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56" r:id="rId2"/>
    <p:sldId id="257" r:id="rId3"/>
    <p:sldId id="376" r:id="rId4"/>
    <p:sldId id="373" r:id="rId5"/>
    <p:sldId id="374" r:id="rId6"/>
    <p:sldId id="372" r:id="rId7"/>
    <p:sldId id="369" r:id="rId8"/>
    <p:sldId id="370" r:id="rId9"/>
    <p:sldId id="375" r:id="rId10"/>
    <p:sldId id="377" r:id="rId11"/>
    <p:sldId id="384" r:id="rId12"/>
    <p:sldId id="381" r:id="rId13"/>
    <p:sldId id="378" r:id="rId14"/>
    <p:sldId id="379" r:id="rId15"/>
    <p:sldId id="380" r:id="rId16"/>
    <p:sldId id="382" r:id="rId17"/>
    <p:sldId id="3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5" d="100"/>
          <a:sy n="95" d="100"/>
        </p:scale>
        <p:origin x="20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01-09-2026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a:t>Zeroth Review</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9.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0.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B5478A0-E400-6B2F-4B52-61D3A263B2D2}"/>
              </a:ext>
            </a:extLst>
          </p:cNvPr>
          <p:cNvPicPr>
            <a:picLocks noChangeAspect="1"/>
          </p:cNvPicPr>
          <p:nvPr/>
        </p:nvPicPr>
        <p:blipFill>
          <a:blip r:embed="rId4"/>
          <a:stretch>
            <a:fillRect/>
          </a:stretch>
        </p:blipFill>
        <p:spPr>
          <a:xfrm>
            <a:off x="11111491" y="64077"/>
            <a:ext cx="1000125" cy="1143000"/>
          </a:xfrm>
          <a:prstGeom prst="rect">
            <a:avLst/>
          </a:prstGeom>
        </p:spPr>
      </p:pic>
      <p:sp>
        <p:nvSpPr>
          <p:cNvPr id="9" name="Title 1">
            <a:extLst>
              <a:ext uri="{FF2B5EF4-FFF2-40B4-BE49-F238E27FC236}">
                <a16:creationId xmlns:a16="http://schemas.microsoft.com/office/drawing/2014/main" id="{D41A2FBB-F55B-9BAA-4EBD-7D6AD7B1D9C0}"/>
              </a:ext>
            </a:extLst>
          </p:cNvPr>
          <p:cNvSpPr txBox="1">
            <a:spLocks/>
          </p:cNvSpPr>
          <p:nvPr/>
        </p:nvSpPr>
        <p:spPr>
          <a:xfrm>
            <a:off x="789712" y="2899584"/>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Meta Cognitive Temperature Regulation for Transformer Models</a:t>
            </a:r>
            <a:endParaRPr lang="en-IN" sz="4000" dirty="0">
              <a:latin typeface="Times New Roman" panose="02020603050405020304" pitchFamily="18" charset="0"/>
              <a:cs typeface="Times New Roman" panose="02020603050405020304" pitchFamily="18" charset="0"/>
            </a:endParaRPr>
          </a:p>
        </p:txBody>
      </p:sp>
      <p:sp>
        <p:nvSpPr>
          <p:cNvPr id="10" name="TextBox 1">
            <a:extLst>
              <a:ext uri="{FF2B5EF4-FFF2-40B4-BE49-F238E27FC236}">
                <a16:creationId xmlns:a16="http://schemas.microsoft.com/office/drawing/2014/main" id="{2D19DAE3-8F95-230C-D485-225341D07DA1}"/>
              </a:ext>
            </a:extLst>
          </p:cNvPr>
          <p:cNvSpPr txBox="1">
            <a:spLocks noChangeArrowheads="1"/>
          </p:cNvSpPr>
          <p:nvPr/>
        </p:nvSpPr>
        <p:spPr bwMode="auto">
          <a:xfrm>
            <a:off x="1062351" y="5263586"/>
            <a:ext cx="33043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IN"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Assistant Professor</a:t>
            </a:r>
            <a:endParaRPr lang="en-IN" altLang="en-US" sz="24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8686800" y="4955810"/>
            <a:ext cx="3505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a:solidFill>
                  <a:schemeClr val="accent4">
                    <a:lumMod val="75000"/>
                    <a:lumOff val="25000"/>
                  </a:schemeClr>
                </a:solidFill>
                <a:latin typeface="Times New Roman" panose="02020603050405020304" pitchFamily="18" charset="0"/>
                <a:cs typeface="Times New Roman" panose="02020603050405020304" pitchFamily="18" charset="0"/>
              </a:rPr>
              <a:t>SURWEESH SP</a:t>
            </a:r>
          </a:p>
          <a:p>
            <a:pPr>
              <a:spcBef>
                <a:spcPct val="0"/>
              </a:spcBef>
              <a:buClrTx/>
              <a:buFontTx/>
              <a:buNone/>
            </a:pPr>
            <a:r>
              <a:rPr lang="en-IN" altLang="en-US" sz="2000" b="1" dirty="0">
                <a:solidFill>
                  <a:schemeClr val="accent4">
                    <a:lumMod val="75000"/>
                    <a:lumOff val="25000"/>
                  </a:schemeClr>
                </a:solidFill>
                <a:latin typeface="Times New Roman" panose="02020603050405020304" pitchFamily="18" charset="0"/>
                <a:cs typeface="Times New Roman" panose="02020603050405020304" pitchFamily="18" charset="0"/>
              </a:rPr>
              <a:t>231501165</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00870" y="1650619"/>
            <a:ext cx="10515600" cy="722457"/>
          </a:xfrm>
          <a:prstGeom prst="rect">
            <a:avLst/>
          </a:prstGeom>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C00000"/>
                </a:solidFill>
                <a:latin typeface="Times New Roman" panose="02020603050405020304" pitchFamily="18" charset="0"/>
                <a:ea typeface="+mn-ea"/>
                <a:cs typeface="Times New Roman" panose="02020603050405020304" pitchFamily="18" charset="0"/>
              </a:rPr>
              <a:t>DEPARTMENT OF ARTIFICIAL INTELLIGENCE AND       MACHINE LEARNING</a:t>
            </a:r>
          </a:p>
        </p:txBody>
      </p:sp>
      <p:pic>
        <p:nvPicPr>
          <p:cNvPr id="8" name="Picture 2" descr="Index of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64077"/>
            <a:ext cx="3756758" cy="1213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1">
            <a:extLst>
              <a:ext uri="{FF2B5EF4-FFF2-40B4-BE49-F238E27FC236}">
                <a16:creationId xmlns:a16="http://schemas.microsoft.com/office/drawing/2014/main" id="{6663A65D-7D56-4992-E110-9EA27E5A474B}"/>
              </a:ext>
            </a:extLst>
          </p:cNvPr>
          <p:cNvSpPr txBox="1">
            <a:spLocks noChangeArrowheads="1"/>
          </p:cNvSpPr>
          <p:nvPr/>
        </p:nvSpPr>
        <p:spPr bwMode="auto">
          <a:xfrm>
            <a:off x="1138989" y="4955810"/>
            <a:ext cx="3505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a:solidFill>
                  <a:schemeClr val="accent4">
                    <a:lumMod val="75000"/>
                    <a:lumOff val="25000"/>
                  </a:schemeClr>
                </a:solidFill>
                <a:latin typeface="Times New Roman" panose="02020603050405020304" pitchFamily="18" charset="0"/>
                <a:cs typeface="Times New Roman" panose="02020603050405020304" pitchFamily="18" charset="0"/>
              </a:rPr>
              <a:t>Mrs. Sangeetha K</a:t>
            </a:r>
          </a:p>
        </p:txBody>
      </p:sp>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762000" y="304800"/>
            <a:ext cx="10668000" cy="1216025"/>
          </a:xfrm>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INTRODUCTION</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2</a:t>
            </a:fld>
            <a:endParaRPr lang="en-IN"/>
          </a:p>
        </p:txBody>
      </p:sp>
      <p:sp>
        <p:nvSpPr>
          <p:cNvPr id="7" name="Freeform 2">
            <a:extLst>
              <a:ext uri="{FF2B5EF4-FFF2-40B4-BE49-F238E27FC236}">
                <a16:creationId xmlns:a16="http://schemas.microsoft.com/office/drawing/2014/main" id="{AE10362E-DE98-0F93-C312-F678756311F3}"/>
              </a:ext>
            </a:extLst>
          </p:cNvPr>
          <p:cNvSpPr/>
          <p:nvPr/>
        </p:nvSpPr>
        <p:spPr>
          <a:xfrm>
            <a:off x="11149263" y="136525"/>
            <a:ext cx="780229" cy="1098717"/>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txBody>
          <a:bodyPr/>
          <a:lstStyle/>
          <a:p>
            <a:endParaRPr lang="en-IN" dirty="0"/>
          </a:p>
        </p:txBody>
      </p:sp>
      <p:sp>
        <p:nvSpPr>
          <p:cNvPr id="8" name="Rectangle 7">
            <a:extLst>
              <a:ext uri="{FF2B5EF4-FFF2-40B4-BE49-F238E27FC236}">
                <a16:creationId xmlns:a16="http://schemas.microsoft.com/office/drawing/2014/main" id="{4CFA71BD-FAC9-4CB3-5988-5935E1BB1256}"/>
              </a:ext>
            </a:extLst>
          </p:cNvPr>
          <p:cNvSpPr/>
          <p:nvPr/>
        </p:nvSpPr>
        <p:spPr>
          <a:xfrm>
            <a:off x="1330960" y="2106146"/>
            <a:ext cx="4500880" cy="3539430"/>
          </a:xfrm>
          <a:prstGeom prst="rect">
            <a:avLst/>
          </a:prstGeom>
          <a:noFill/>
        </p:spPr>
        <p:txBody>
          <a:bodyPr wrap="square" lIns="91440" tIns="45720" rIns="91440" bIns="45720">
            <a:spAutoFit/>
          </a:bodyPr>
          <a:lstStyle/>
          <a:p>
            <a:pPr algn="just"/>
            <a:r>
              <a:rPr lang="en-IN" sz="1400" b="1" dirty="0">
                <a:latin typeface="Arial" panose="020B0604020202020204" pitchFamily="34" charset="0"/>
                <a:cs typeface="Arial" panose="020B0604020202020204" pitchFamily="34" charset="0"/>
              </a:rPr>
              <a:t>Large Language Models (LLMs) </a:t>
            </a:r>
            <a:r>
              <a:rPr lang="en-IN" sz="1400" dirty="0">
                <a:latin typeface="Arial" panose="020B0604020202020204" pitchFamily="34" charset="0"/>
                <a:cs typeface="Arial" panose="020B0604020202020204" pitchFamily="34" charset="0"/>
              </a:rPr>
              <a:t>built upon the Transformer architecture have revolutionized Artificial Intelligence by demonstrating exceptional capabilities in natural language understanding, reasoning, code generation, scientific discovery, and conversational intelligence. </a:t>
            </a:r>
          </a:p>
          <a:p>
            <a:pPr algn="just"/>
            <a:endParaRPr lang="en-IN"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a:p>
            <a:pPr algn="just"/>
            <a:r>
              <a:rPr lang="en-IN" sz="1400" dirty="0">
                <a:latin typeface="Arial" panose="020B0604020202020204" pitchFamily="34" charset="0"/>
                <a:cs typeface="Arial" panose="020B0604020202020204" pitchFamily="34" charset="0"/>
              </a:rPr>
              <a:t>Despite these remarkable advances, their inference mechanism of modern Transformer models remains fundamentally static. During text generation, decoding decisions are governed by externally defined </a:t>
            </a:r>
            <a:r>
              <a:rPr lang="en-IN" sz="1400" b="1" dirty="0">
                <a:latin typeface="Arial" panose="020B0604020202020204" pitchFamily="34" charset="0"/>
                <a:cs typeface="Arial" panose="020B0604020202020204" pitchFamily="34" charset="0"/>
              </a:rPr>
              <a:t>hyperparameters</a:t>
            </a:r>
            <a:r>
              <a:rPr lang="en-IN" sz="1400" dirty="0">
                <a:latin typeface="Arial" panose="020B0604020202020204" pitchFamily="34" charset="0"/>
                <a:cs typeface="Arial" panose="020B0604020202020204" pitchFamily="34" charset="0"/>
              </a:rPr>
              <a:t> such as </a:t>
            </a:r>
            <a:r>
              <a:rPr lang="en-IN" sz="1400" b="1" dirty="0">
                <a:latin typeface="Arial" panose="020B0604020202020204" pitchFamily="34" charset="0"/>
                <a:cs typeface="Arial" panose="020B0604020202020204" pitchFamily="34" charset="0"/>
              </a:rPr>
              <a:t>temperature, Top-k, Top-p, and beam search</a:t>
            </a:r>
            <a:r>
              <a:rPr lang="en-IN" sz="1400" dirty="0">
                <a:latin typeface="Arial" panose="020B0604020202020204" pitchFamily="34" charset="0"/>
                <a:cs typeface="Arial" panose="020B0604020202020204" pitchFamily="34" charset="0"/>
              </a:rPr>
              <a:t>. Among these, the </a:t>
            </a:r>
            <a:r>
              <a:rPr lang="en-IN" sz="1400" b="1" dirty="0">
                <a:latin typeface="Arial" panose="020B0604020202020204" pitchFamily="34" charset="0"/>
                <a:cs typeface="Arial" panose="020B0604020202020204" pitchFamily="34" charset="0"/>
              </a:rPr>
              <a:t>temperature</a:t>
            </a:r>
            <a:r>
              <a:rPr lang="en-IN" sz="1400" dirty="0">
                <a:latin typeface="Arial" panose="020B0604020202020204" pitchFamily="34" charset="0"/>
                <a:cs typeface="Arial" panose="020B0604020202020204" pitchFamily="34" charset="0"/>
              </a:rPr>
              <a:t> parameter controls the </a:t>
            </a:r>
            <a:r>
              <a:rPr lang="en-IN" sz="1400" b="1" dirty="0">
                <a:latin typeface="Arial" panose="020B0604020202020204" pitchFamily="34" charset="0"/>
                <a:cs typeface="Arial" panose="020B0604020202020204" pitchFamily="34" charset="0"/>
              </a:rPr>
              <a:t>randomness of token selection and is typically assigned manually by the user before inference begins</a:t>
            </a:r>
            <a:r>
              <a:rPr lang="en-IN" sz="1400" dirty="0">
                <a:latin typeface="Arial" panose="020B0604020202020204" pitchFamily="34" charset="0"/>
                <a:cs typeface="Arial" panose="020B0604020202020204" pitchFamily="34" charset="0"/>
              </a:rPr>
              <a:t>. </a:t>
            </a:r>
            <a:endParaRPr lang="en-US"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832C1D1A-DB1F-F64C-D511-2A5B494EF7AA}"/>
              </a:ext>
            </a:extLst>
          </p:cNvPr>
          <p:cNvSpPr/>
          <p:nvPr/>
        </p:nvSpPr>
        <p:spPr>
          <a:xfrm>
            <a:off x="6360160" y="2106146"/>
            <a:ext cx="4500880" cy="3539430"/>
          </a:xfrm>
          <a:prstGeom prst="rect">
            <a:avLst/>
          </a:prstGeom>
          <a:noFill/>
        </p:spPr>
        <p:txBody>
          <a:bodyPr wrap="square" lIns="91440" tIns="45720" rIns="91440" bIns="45720">
            <a:spAutoFit/>
          </a:bodyPr>
          <a:lstStyle/>
          <a:p>
            <a:pPr algn="just"/>
            <a:r>
              <a:rPr lang="en-IN" sz="1400" dirty="0">
                <a:latin typeface="Arial" panose="020B0604020202020204" pitchFamily="34" charset="0"/>
                <a:cs typeface="Arial" panose="020B0604020202020204" pitchFamily="34" charset="0"/>
              </a:rPr>
              <a:t>This assumption introduces a significant limitation. Human reasoning is inherently adaptive we naturally become more cautious when uncertain, explore multiple alternatives for complex problems, and respond deterministically when confidence is high.</a:t>
            </a:r>
          </a:p>
          <a:p>
            <a:pPr algn="just"/>
            <a:endParaRPr lang="en-IN"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a:p>
            <a:pPr algn="just"/>
            <a:r>
              <a:rPr lang="en-IN" sz="1400" dirty="0">
                <a:latin typeface="Arial" panose="020B0604020202020204" pitchFamily="34" charset="0"/>
                <a:cs typeface="Arial" panose="020B0604020202020204" pitchFamily="34" charset="0"/>
              </a:rPr>
              <a:t>This research proposes </a:t>
            </a:r>
            <a:r>
              <a:rPr lang="en-IN" sz="1400" b="1" dirty="0">
                <a:latin typeface="Arial" panose="020B0604020202020204" pitchFamily="34" charset="0"/>
                <a:cs typeface="Arial" panose="020B0604020202020204" pitchFamily="34" charset="0"/>
              </a:rPr>
              <a:t>Meta-Cognitive Temperature Regulation (MCTR)</a:t>
            </a:r>
            <a:r>
              <a:rPr lang="en-IN" sz="1400" dirty="0">
                <a:latin typeface="Arial" panose="020B0604020202020204" pitchFamily="34" charset="0"/>
                <a:cs typeface="Arial" panose="020B0604020202020204" pitchFamily="34" charset="0"/>
              </a:rPr>
              <a:t>, a novel inference framework that enables Transformer models to continuously assess their internal cognitive state and dynamically regulate decoding temperature during generation. Inspired by human meta-cognition, the framework estimates confidence, uncertainty, reasoning stability, and novelty before each prediction, allowing the model to adapt its exploration strategy rather than relying on a static user-defined parameter.</a:t>
            </a:r>
            <a:endParaRPr lang="en-US"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7626643B-89F2-5FC9-4F91-9B579A239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A7917-7EBD-5C88-E688-E64AE988B387}"/>
              </a:ext>
            </a:extLst>
          </p:cNvPr>
          <p:cNvSpPr>
            <a:spLocks noGrp="1"/>
          </p:cNvSpPr>
          <p:nvPr>
            <p:ph type="title"/>
          </p:nvPr>
        </p:nvSpPr>
        <p:spPr>
          <a:xfrm>
            <a:off x="762000" y="274320"/>
            <a:ext cx="10668000" cy="1216025"/>
          </a:xfrm>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IMPORTANCE OF THE TOPIC</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AE428D3-7CF5-4017-7B51-237EA068633B}"/>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5ACE6AD0-4D53-E1F6-9CD4-977625271C11}"/>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7DCB0AFB-0DC5-B378-CF77-AEF93639342D}"/>
              </a:ext>
            </a:extLst>
          </p:cNvPr>
          <p:cNvSpPr>
            <a:spLocks noGrp="1"/>
          </p:cNvSpPr>
          <p:nvPr>
            <p:ph type="sldNum" sz="quarter" idx="12"/>
          </p:nvPr>
        </p:nvSpPr>
        <p:spPr/>
        <p:txBody>
          <a:bodyPr/>
          <a:lstStyle/>
          <a:p>
            <a:fld id="{5AB9ECBD-B4DD-40D5-8D24-9ECCDBB1583E}" type="slidenum">
              <a:rPr lang="en-IN" smtClean="0"/>
              <a:t>3</a:t>
            </a:fld>
            <a:endParaRPr lang="en-IN"/>
          </a:p>
        </p:txBody>
      </p:sp>
      <p:sp>
        <p:nvSpPr>
          <p:cNvPr id="7" name="Freeform 2">
            <a:extLst>
              <a:ext uri="{FF2B5EF4-FFF2-40B4-BE49-F238E27FC236}">
                <a16:creationId xmlns:a16="http://schemas.microsoft.com/office/drawing/2014/main" id="{48719881-11E8-036B-9435-DF285F616BD7}"/>
              </a:ext>
            </a:extLst>
          </p:cNvPr>
          <p:cNvSpPr/>
          <p:nvPr/>
        </p:nvSpPr>
        <p:spPr>
          <a:xfrm>
            <a:off x="11149263" y="136525"/>
            <a:ext cx="780229" cy="1098717"/>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txBody>
          <a:bodyPr/>
          <a:lstStyle/>
          <a:p>
            <a:endParaRPr lang="en-IN" dirty="0"/>
          </a:p>
        </p:txBody>
      </p:sp>
      <p:sp>
        <p:nvSpPr>
          <p:cNvPr id="8" name="Rectangle 7">
            <a:extLst>
              <a:ext uri="{FF2B5EF4-FFF2-40B4-BE49-F238E27FC236}">
                <a16:creationId xmlns:a16="http://schemas.microsoft.com/office/drawing/2014/main" id="{74B06609-CC8B-DF47-6B6A-73CF10B3EB57}"/>
              </a:ext>
            </a:extLst>
          </p:cNvPr>
          <p:cNvSpPr/>
          <p:nvPr/>
        </p:nvSpPr>
        <p:spPr>
          <a:xfrm>
            <a:off x="1168401" y="1876862"/>
            <a:ext cx="4927599" cy="4616648"/>
          </a:xfrm>
          <a:prstGeom prst="rect">
            <a:avLst/>
          </a:prstGeom>
          <a:noFill/>
        </p:spPr>
        <p:txBody>
          <a:bodyPr wrap="square" lIns="91440" tIns="45720" rIns="91440" bIns="45720">
            <a:spAutoFit/>
          </a:bodyPr>
          <a:lstStyle/>
          <a:p>
            <a:pPr algn="just"/>
            <a:r>
              <a:rPr lang="en-IN" sz="1400" dirty="0">
                <a:latin typeface="Arial" panose="020B0604020202020204" pitchFamily="34" charset="0"/>
                <a:cs typeface="Arial" panose="020B0604020202020204" pitchFamily="34" charset="0"/>
              </a:rPr>
              <a:t>As LLMs become increasingly integrated into healthcare, education, finance, law, scientific research, autonomous systems, and software engineering, ensuring reliable reasoning has become more critical than simply improving accuracy.</a:t>
            </a:r>
          </a:p>
          <a:p>
            <a:pPr algn="just"/>
            <a:endParaRPr lang="en-IN" sz="1400" dirty="0">
              <a:latin typeface="Arial" panose="020B0604020202020204" pitchFamily="34" charset="0"/>
              <a:cs typeface="Arial" panose="020B0604020202020204" pitchFamily="34" charset="0"/>
            </a:endParaRPr>
          </a:p>
          <a:p>
            <a:pPr algn="just"/>
            <a:r>
              <a:rPr lang="en-IN" sz="1400" dirty="0">
                <a:latin typeface="Arial" panose="020B0604020202020204" pitchFamily="34" charset="0"/>
                <a:cs typeface="Arial" panose="020B0604020202020204" pitchFamily="34" charset="0"/>
              </a:rPr>
              <a:t>Current Transformer models exhibit several well-known limitations:</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Hallucination of incorrect facts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Overconfident incorrect predictions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Static decoding behaviour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Poor uncertainty awareness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Lack of self-reflection during reasoning</a:t>
            </a:r>
          </a:p>
          <a:p>
            <a:pPr algn="just"/>
            <a:endParaRPr lang="en-IN" sz="1400" dirty="0">
              <a:latin typeface="Arial" panose="020B0604020202020204" pitchFamily="34" charset="0"/>
              <a:cs typeface="Arial" panose="020B0604020202020204" pitchFamily="34" charset="0"/>
            </a:endParaRPr>
          </a:p>
          <a:p>
            <a:pPr algn="just"/>
            <a:r>
              <a:rPr lang="en-IN" sz="1400" dirty="0">
                <a:latin typeface="Arial" panose="020B0604020202020204" pitchFamily="34" charset="0"/>
                <a:cs typeface="Arial" panose="020B0604020202020204" pitchFamily="34" charset="0"/>
              </a:rPr>
              <a:t>Fixed exploration regardless of task complexity, </a:t>
            </a:r>
          </a:p>
          <a:p>
            <a:pPr algn="just"/>
            <a:r>
              <a:rPr lang="en-IN" sz="1400" dirty="0">
                <a:latin typeface="Arial" panose="020B0604020202020204" pitchFamily="34" charset="0"/>
                <a:cs typeface="Arial" panose="020B0604020202020204" pitchFamily="34" charset="0"/>
              </a:rPr>
              <a:t>although recent research has explored adaptive decoding and temperature optimization, these methods primarily adjust output sampling strategies and do not introduce an explicit mechanism for computational self-awareness.</a:t>
            </a:r>
          </a:p>
          <a:p>
            <a:pPr algn="just"/>
            <a:r>
              <a:rPr lang="en-IN" sz="1400" dirty="0">
                <a:latin typeface="Arial" panose="020B0604020202020204" pitchFamily="34" charset="0"/>
                <a:cs typeface="Arial" panose="020B0604020202020204" pitchFamily="34" charset="0"/>
              </a:rPr>
              <a:t> </a:t>
            </a:r>
          </a:p>
          <a:p>
            <a:pPr algn="just"/>
            <a:endParaRPr lang="en-IN" sz="14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437B3E77-EC3F-3206-EDDF-E447E116B814}"/>
              </a:ext>
            </a:extLst>
          </p:cNvPr>
          <p:cNvSpPr/>
          <p:nvPr/>
        </p:nvSpPr>
        <p:spPr>
          <a:xfrm>
            <a:off x="6487160" y="1866702"/>
            <a:ext cx="4500880" cy="1815882"/>
          </a:xfrm>
          <a:prstGeom prst="rect">
            <a:avLst/>
          </a:prstGeom>
          <a:noFill/>
        </p:spPr>
        <p:txBody>
          <a:bodyPr wrap="square" lIns="91440" tIns="45720" rIns="91440" bIns="45720">
            <a:spAutoFit/>
          </a:bodyPr>
          <a:lstStyle/>
          <a:p>
            <a:pPr algn="just"/>
            <a:r>
              <a:rPr lang="en-IN" sz="1400" dirty="0">
                <a:latin typeface="Arial" panose="020B0604020202020204" pitchFamily="34" charset="0"/>
                <a:cs typeface="Arial" panose="020B0604020202020204" pitchFamily="34" charset="0"/>
              </a:rPr>
              <a:t>Recent works such as </a:t>
            </a:r>
          </a:p>
          <a:p>
            <a:pPr marL="342900" indent="-342900" algn="just">
              <a:buFont typeface="+mj-lt"/>
              <a:buAutoNum type="arabicPeriod"/>
            </a:pPr>
            <a:r>
              <a:rPr lang="en-IN" sz="1400" b="1" dirty="0">
                <a:latin typeface="Arial" panose="020B0604020202020204" pitchFamily="34" charset="0"/>
                <a:cs typeface="Arial" panose="020B0604020202020204" pitchFamily="34" charset="0"/>
              </a:rPr>
              <a:t>Adaptive Decoding via Latent Preference Optimization, </a:t>
            </a:r>
          </a:p>
          <a:p>
            <a:pPr marL="342900" indent="-342900" algn="just">
              <a:buFont typeface="+mj-lt"/>
              <a:buAutoNum type="arabicPeriod"/>
            </a:pPr>
            <a:r>
              <a:rPr lang="en-IN" sz="1400" b="1" dirty="0">
                <a:latin typeface="Arial" panose="020B0604020202020204" pitchFamily="34" charset="0"/>
                <a:cs typeface="Arial" panose="020B0604020202020204" pitchFamily="34" charset="0"/>
              </a:rPr>
              <a:t>Thermometer of Thoughts, and </a:t>
            </a:r>
          </a:p>
          <a:p>
            <a:pPr marL="342900" indent="-342900" algn="just">
              <a:buFont typeface="+mj-lt"/>
              <a:buAutoNum type="arabicPeriod"/>
            </a:pPr>
            <a:r>
              <a:rPr lang="en-IN" sz="1400" b="1" dirty="0">
                <a:latin typeface="Arial" panose="020B0604020202020204" pitchFamily="34" charset="0"/>
                <a:cs typeface="Arial" panose="020B0604020202020204" pitchFamily="34" charset="0"/>
              </a:rPr>
              <a:t>TAMPO</a:t>
            </a:r>
            <a:r>
              <a:rPr lang="en-IN" sz="1400" dirty="0">
                <a:latin typeface="Arial" panose="020B0604020202020204" pitchFamily="34" charset="0"/>
                <a:cs typeface="Arial" panose="020B0604020202020204" pitchFamily="34" charset="0"/>
              </a:rPr>
              <a:t> demonstrate the growing importance of adaptive inference but remain focused on optimizing decoding policies rather than modelling a model's internal cognitive state.</a:t>
            </a:r>
          </a:p>
        </p:txBody>
      </p:sp>
    </p:spTree>
    <p:extLst>
      <p:ext uri="{BB962C8B-B14F-4D97-AF65-F5344CB8AC3E}">
        <p14:creationId xmlns:p14="http://schemas.microsoft.com/office/powerpoint/2010/main" val="96499250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PROJECT OVERVIEW</a:t>
            </a:r>
          </a:p>
        </p:txBody>
      </p:sp>
      <p:sp>
        <p:nvSpPr>
          <p:cNvPr id="4" name="Date Placeholder 3"/>
          <p:cNvSpPr>
            <a:spLocks noGrp="1"/>
          </p:cNvSpPr>
          <p:nvPr>
            <p:ph type="dt" sz="half" idx="10"/>
          </p:nvPr>
        </p:nvSpPr>
        <p:spPr/>
        <p:txBody>
          <a:bodyPr/>
          <a:lstStyle/>
          <a:p>
            <a:r>
              <a:rPr lang="en-US" dirty="0"/>
              <a:t>First Review</a:t>
            </a:r>
            <a:endParaRPr lang="en-IN" dirty="0"/>
          </a:p>
        </p:txBody>
      </p:sp>
      <p:sp>
        <p:nvSpPr>
          <p:cNvPr id="5" name="Footer Placeholder 4"/>
          <p:cNvSpPr>
            <a:spLocks noGrp="1"/>
          </p:cNvSpPr>
          <p:nvPr>
            <p:ph type="ftr" sz="quarter" idx="11"/>
          </p:nvPr>
        </p:nvSpPr>
        <p:spPr/>
        <p:txBody>
          <a:bodyPr/>
          <a:lstStyle/>
          <a:p>
            <a:pPr>
              <a:defRPr/>
            </a:pPr>
            <a:r>
              <a:rPr lang="en-US" dirty="0"/>
              <a:t>Department of AI &amp; ML</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smtClean="0"/>
              <a:pPr>
                <a:defRPr/>
              </a:pPr>
              <a:t>4</a:t>
            </a:fld>
            <a:endParaRPr lang="en-US" altLang="en-US"/>
          </a:p>
        </p:txBody>
      </p:sp>
      <p:sp>
        <p:nvSpPr>
          <p:cNvPr id="3" name="Freeform 2">
            <a:extLst>
              <a:ext uri="{FF2B5EF4-FFF2-40B4-BE49-F238E27FC236}">
                <a16:creationId xmlns:a16="http://schemas.microsoft.com/office/drawing/2014/main" id="{3430D328-66EC-9266-314B-2931A2080C18}"/>
              </a:ext>
            </a:extLst>
          </p:cNvPr>
          <p:cNvSpPr/>
          <p:nvPr/>
        </p:nvSpPr>
        <p:spPr>
          <a:xfrm>
            <a:off x="11116917" y="136525"/>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2"/>
            <a:stretch>
              <a:fillRect/>
            </a:stretch>
          </a:blipFill>
        </p:spPr>
      </p:sp>
      <p:sp>
        <p:nvSpPr>
          <p:cNvPr id="8" name="Rectangle 7">
            <a:extLst>
              <a:ext uri="{FF2B5EF4-FFF2-40B4-BE49-F238E27FC236}">
                <a16:creationId xmlns:a16="http://schemas.microsoft.com/office/drawing/2014/main" id="{3C732ACB-2459-0403-7BC2-C5DEDA18DDFF}"/>
              </a:ext>
            </a:extLst>
          </p:cNvPr>
          <p:cNvSpPr/>
          <p:nvPr/>
        </p:nvSpPr>
        <p:spPr>
          <a:xfrm>
            <a:off x="2616200" y="2010161"/>
            <a:ext cx="6959600" cy="3170099"/>
          </a:xfrm>
          <a:prstGeom prst="rect">
            <a:avLst/>
          </a:prstGeom>
          <a:noFill/>
        </p:spPr>
        <p:txBody>
          <a:bodyPr wrap="square" lIns="91440" tIns="45720" rIns="91440" bIns="45720">
            <a:spAutoFit/>
          </a:bodyPr>
          <a:lstStyle/>
          <a:p>
            <a:pPr algn="just"/>
            <a:r>
              <a:rPr lang="en-IN" sz="1400" dirty="0">
                <a:latin typeface="Arial" panose="020B0604020202020204" pitchFamily="34" charset="0"/>
                <a:cs typeface="Arial" panose="020B0604020202020204" pitchFamily="34" charset="0"/>
              </a:rPr>
              <a:t>The proposed research introduces </a:t>
            </a:r>
            <a:r>
              <a:rPr lang="en-IN" sz="1600" b="1" dirty="0">
                <a:latin typeface="Arial" panose="020B0604020202020204" pitchFamily="34" charset="0"/>
                <a:cs typeface="Arial" panose="020B0604020202020204" pitchFamily="34" charset="0"/>
              </a:rPr>
              <a:t>Meta-Cognitive Temperature Regulation (MCTR)</a:t>
            </a:r>
            <a:r>
              <a:rPr lang="en-IN" sz="1400" dirty="0">
                <a:latin typeface="Arial" panose="020B0604020202020204" pitchFamily="34" charset="0"/>
                <a:cs typeface="Arial" panose="020B0604020202020204" pitchFamily="34" charset="0"/>
              </a:rPr>
              <a:t>, a self-regulating inference framework for Transformer-based Large Language Models.</a:t>
            </a:r>
          </a:p>
          <a:p>
            <a:pPr algn="just"/>
            <a:endParaRPr lang="en-IN" sz="1400" dirty="0">
              <a:latin typeface="Arial" panose="020B0604020202020204" pitchFamily="34" charset="0"/>
              <a:cs typeface="Arial" panose="020B0604020202020204" pitchFamily="34" charset="0"/>
            </a:endParaRPr>
          </a:p>
          <a:p>
            <a:pPr algn="just"/>
            <a:r>
              <a:rPr lang="en-IN" sz="1400" dirty="0">
                <a:latin typeface="Arial" panose="020B0604020202020204" pitchFamily="34" charset="0"/>
                <a:cs typeface="Arial" panose="020B0604020202020204" pitchFamily="34" charset="0"/>
              </a:rPr>
              <a:t>Instead of using a fixed decoding temperature throughout inference, the proposed system estimates the model's internal cognitive state including confidence, uncertainty, reasoning stability, and novelty, and dynamically predicts an optimal temperature for every decoding step.</a:t>
            </a:r>
          </a:p>
          <a:p>
            <a:pPr algn="just"/>
            <a:endParaRPr lang="en-IN" sz="1400" dirty="0">
              <a:latin typeface="Arial" panose="020B0604020202020204" pitchFamily="34" charset="0"/>
              <a:cs typeface="Arial" panose="020B0604020202020204" pitchFamily="34" charset="0"/>
            </a:endParaRPr>
          </a:p>
          <a:p>
            <a:pPr algn="just"/>
            <a:r>
              <a:rPr lang="en-IN" sz="1400" dirty="0">
                <a:latin typeface="Arial" panose="020B0604020202020204" pitchFamily="34" charset="0"/>
                <a:cs typeface="Arial" panose="020B0604020202020204" pitchFamily="34" charset="0"/>
              </a:rPr>
              <a:t>The framework consists of four major components:</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Transformer Backbone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Meta-Cognitive State Estimator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Dynamic Temperature Controller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Adaptive Decoding Module </a:t>
            </a:r>
          </a:p>
        </p:txBody>
      </p:sp>
    </p:spTree>
    <p:extLst>
      <p:ext uri="{BB962C8B-B14F-4D97-AF65-F5344CB8AC3E}">
        <p14:creationId xmlns:p14="http://schemas.microsoft.com/office/powerpoint/2010/main" val="1744866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5</a:t>
            </a:fld>
            <a:endParaRPr lang="en-IN"/>
          </a:p>
        </p:txBody>
      </p:sp>
      <p:sp>
        <p:nvSpPr>
          <p:cNvPr id="7" name="Freeform 2">
            <a:extLst>
              <a:ext uri="{FF2B5EF4-FFF2-40B4-BE49-F238E27FC236}">
                <a16:creationId xmlns:a16="http://schemas.microsoft.com/office/drawing/2014/main" id="{247D8627-E985-E8AF-6667-44DEB579929C}"/>
              </a:ext>
            </a:extLst>
          </p:cNvPr>
          <p:cNvSpPr/>
          <p:nvPr/>
        </p:nvSpPr>
        <p:spPr>
          <a:xfrm>
            <a:off x="11246126"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2"/>
            <a:stretch>
              <a:fillRect/>
            </a:stretch>
          </a:blipFill>
        </p:spPr>
      </p:sp>
      <p:sp>
        <p:nvSpPr>
          <p:cNvPr id="9" name="Rectangle 8">
            <a:extLst>
              <a:ext uri="{FF2B5EF4-FFF2-40B4-BE49-F238E27FC236}">
                <a16:creationId xmlns:a16="http://schemas.microsoft.com/office/drawing/2014/main" id="{D7293D9E-2A22-6C24-64E1-06122BD43C60}"/>
              </a:ext>
            </a:extLst>
          </p:cNvPr>
          <p:cNvSpPr/>
          <p:nvPr/>
        </p:nvSpPr>
        <p:spPr>
          <a:xfrm>
            <a:off x="2532513" y="2124779"/>
            <a:ext cx="6664960" cy="3754874"/>
          </a:xfrm>
          <a:prstGeom prst="rect">
            <a:avLst/>
          </a:prstGeom>
          <a:noFill/>
        </p:spPr>
        <p:txBody>
          <a:bodyPr wrap="square" lIns="91440" tIns="45720" rIns="91440" bIns="45720">
            <a:spAutoFit/>
          </a:bodyPr>
          <a:lstStyle/>
          <a:p>
            <a:pPr algn="just"/>
            <a:r>
              <a:rPr lang="en-IN" sz="1400" dirty="0">
                <a:latin typeface="Arial" panose="020B0604020202020204" pitchFamily="34" charset="0"/>
                <a:cs typeface="Arial" panose="020B0604020202020204" pitchFamily="34" charset="0"/>
              </a:rPr>
              <a:t>Current </a:t>
            </a:r>
            <a:r>
              <a:rPr lang="en-IN" sz="1400" b="1" dirty="0">
                <a:latin typeface="Arial" panose="020B0604020202020204" pitchFamily="34" charset="0"/>
                <a:cs typeface="Arial" panose="020B0604020202020204" pitchFamily="34" charset="0"/>
              </a:rPr>
              <a:t>Transformer-based Large Language Models </a:t>
            </a:r>
            <a:r>
              <a:rPr lang="en-IN" sz="1400" dirty="0">
                <a:latin typeface="Arial" panose="020B0604020202020204" pitchFamily="34" charset="0"/>
                <a:cs typeface="Arial" panose="020B0604020202020204" pitchFamily="34" charset="0"/>
              </a:rPr>
              <a:t>perform inference using a </a:t>
            </a:r>
            <a:r>
              <a:rPr lang="en-IN" sz="1400" b="1" dirty="0">
                <a:latin typeface="Arial" panose="020B0604020202020204" pitchFamily="34" charset="0"/>
                <a:cs typeface="Arial" panose="020B0604020202020204" pitchFamily="34" charset="0"/>
              </a:rPr>
              <a:t>fixed decoding strategy</a:t>
            </a:r>
            <a:r>
              <a:rPr lang="en-IN" sz="1400" dirty="0">
                <a:latin typeface="Arial" panose="020B0604020202020204" pitchFamily="34" charset="0"/>
                <a:cs typeface="Arial" panose="020B0604020202020204" pitchFamily="34" charset="0"/>
              </a:rPr>
              <a:t>. During token generation, probability distributions are adjusted using manually selected hyperparameters such as:</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Temperature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Top-k Sampling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Top-p Sampling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Beam Search </a:t>
            </a: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Repetition Penalty </a:t>
            </a:r>
          </a:p>
          <a:p>
            <a:pPr marL="285750" indent="-285750" algn="just">
              <a:buFont typeface="Arial" panose="020B0604020202020204" pitchFamily="34" charset="0"/>
              <a:buChar char="•"/>
            </a:pPr>
            <a:endParaRPr lang="en-IN" sz="1400" dirty="0">
              <a:latin typeface="Arial" panose="020B0604020202020204" pitchFamily="34" charset="0"/>
              <a:cs typeface="Arial" panose="020B0604020202020204" pitchFamily="34" charset="0"/>
            </a:endParaRPr>
          </a:p>
          <a:p>
            <a:pPr algn="just"/>
            <a:r>
              <a:rPr lang="en-IN" sz="1400" dirty="0">
                <a:latin typeface="Arial" panose="020B0604020202020204" pitchFamily="34" charset="0"/>
                <a:cs typeface="Arial" panose="020B0604020202020204" pitchFamily="34" charset="0"/>
              </a:rPr>
              <a:t>Several recent studies have proposed adaptive decoding methods that dynamically adjust temperature or attention during inference. </a:t>
            </a:r>
          </a:p>
          <a:p>
            <a:pPr algn="just"/>
            <a:endParaRPr lang="en-IN" sz="1400"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IN" sz="1400" b="1" dirty="0">
                <a:latin typeface="Arial" panose="020B0604020202020204" pitchFamily="34" charset="0"/>
                <a:cs typeface="Arial" panose="020B0604020202020204" pitchFamily="34" charset="0"/>
              </a:rPr>
              <a:t>Adaptive Decoding via Latent Preference Optimization </a:t>
            </a:r>
            <a:r>
              <a:rPr lang="en-IN" sz="1400" dirty="0">
                <a:latin typeface="Arial" panose="020B0604020202020204" pitchFamily="34" charset="0"/>
                <a:cs typeface="Arial" panose="020B0604020202020204" pitchFamily="34" charset="0"/>
              </a:rPr>
              <a:t>selects decoding temperatures according to task characteristics, while </a:t>
            </a:r>
            <a:r>
              <a:rPr lang="en-IN" sz="1400" b="1" dirty="0">
                <a:latin typeface="Arial" panose="020B0604020202020204" pitchFamily="34" charset="0"/>
                <a:cs typeface="Arial" panose="020B0604020202020204" pitchFamily="34" charset="0"/>
              </a:rPr>
              <a:t>Thermometer of Thoughts </a:t>
            </a:r>
            <a:r>
              <a:rPr lang="en-IN" sz="1400" dirty="0">
                <a:latin typeface="Arial" panose="020B0604020202020204" pitchFamily="34" charset="0"/>
                <a:cs typeface="Arial" panose="020B0604020202020204" pitchFamily="34" charset="0"/>
              </a:rPr>
              <a:t>adjusts attention temperature to diversify reasoning.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TAMPO further models temperature as a learnable meta-policy during reinforcement learning.</a:t>
            </a:r>
          </a:p>
        </p:txBody>
      </p:sp>
    </p:spTree>
    <p:extLst>
      <p:ext uri="{BB962C8B-B14F-4D97-AF65-F5344CB8AC3E}">
        <p14:creationId xmlns:p14="http://schemas.microsoft.com/office/powerpoint/2010/main" val="2513003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PROBLEM STATEMENT </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6</a:t>
            </a:fld>
            <a:endParaRPr lang="en-IN"/>
          </a:p>
        </p:txBody>
      </p:sp>
      <p:sp>
        <p:nvSpPr>
          <p:cNvPr id="7" name="Freeform 2">
            <a:extLst>
              <a:ext uri="{FF2B5EF4-FFF2-40B4-BE49-F238E27FC236}">
                <a16:creationId xmlns:a16="http://schemas.microsoft.com/office/drawing/2014/main" id="{CDADBE95-50C6-15D4-51BB-159DEB43AE6D}"/>
              </a:ext>
            </a:extLst>
          </p:cNvPr>
          <p:cNvSpPr/>
          <p:nvPr/>
        </p:nvSpPr>
        <p:spPr>
          <a:xfrm>
            <a:off x="10962973" y="136525"/>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sp>
        <p:nvSpPr>
          <p:cNvPr id="9" name="Rectangle 8">
            <a:extLst>
              <a:ext uri="{FF2B5EF4-FFF2-40B4-BE49-F238E27FC236}">
                <a16:creationId xmlns:a16="http://schemas.microsoft.com/office/drawing/2014/main" id="{CBFD086A-B0DA-FD44-4BA6-94C46E4B7225}"/>
              </a:ext>
            </a:extLst>
          </p:cNvPr>
          <p:cNvSpPr/>
          <p:nvPr/>
        </p:nvSpPr>
        <p:spPr>
          <a:xfrm>
            <a:off x="2613526" y="2521059"/>
            <a:ext cx="6964947" cy="1815882"/>
          </a:xfrm>
          <a:prstGeom prst="rect">
            <a:avLst/>
          </a:prstGeom>
          <a:noFill/>
        </p:spPr>
        <p:txBody>
          <a:bodyPr wrap="square" lIns="91440" tIns="45720" rIns="91440" bIns="45720">
            <a:spAutoFit/>
          </a:bodyPr>
          <a:lstStyle/>
          <a:p>
            <a:pPr algn="just"/>
            <a:r>
              <a:rPr lang="en-IN" sz="1400" b="1" dirty="0">
                <a:latin typeface="Arial" panose="020B0604020202020204" pitchFamily="34" charset="0"/>
                <a:cs typeface="Arial" panose="020B0604020202020204" pitchFamily="34" charset="0"/>
              </a:rPr>
              <a:t>Current Transformer architectures generate outputs using externally specified decoding parameters without evaluating the reliability of their internal reasoning process. As a result, models cannot distinguish between situations requiring deterministic reasoning and those requiring broader exploration. This limitation contributes to hallucinations, overconfidence, inconsistent reasoning, and poor calibration. There is therefore a need for a self-regulating inference framework that continuously estimates the model's cognitive state and dynamically adapts decoding behaviour to improve reasoning reliability and trustworthiness.</a:t>
            </a:r>
            <a:endParaRPr lang="en-US" sz="1400" b="1"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154810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OBJECTIVES AND SCOPE</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7</a:t>
            </a:fld>
            <a:endParaRPr lang="en-IN"/>
          </a:p>
        </p:txBody>
      </p:sp>
      <p:sp>
        <p:nvSpPr>
          <p:cNvPr id="7" name="Freeform 2">
            <a:extLst>
              <a:ext uri="{FF2B5EF4-FFF2-40B4-BE49-F238E27FC236}">
                <a16:creationId xmlns:a16="http://schemas.microsoft.com/office/drawing/2014/main" id="{90834943-1A74-FCFE-48CD-FE73D1210125}"/>
              </a:ext>
            </a:extLst>
          </p:cNvPr>
          <p:cNvSpPr/>
          <p:nvPr/>
        </p:nvSpPr>
        <p:spPr>
          <a:xfrm>
            <a:off x="10962973"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sp>
        <p:nvSpPr>
          <p:cNvPr id="9" name="Rectangle 8">
            <a:extLst>
              <a:ext uri="{FF2B5EF4-FFF2-40B4-BE49-F238E27FC236}">
                <a16:creationId xmlns:a16="http://schemas.microsoft.com/office/drawing/2014/main" id="{43620F10-A485-BDC1-5381-84DBC51C4CCF}"/>
              </a:ext>
            </a:extLst>
          </p:cNvPr>
          <p:cNvSpPr/>
          <p:nvPr/>
        </p:nvSpPr>
        <p:spPr>
          <a:xfrm>
            <a:off x="1040209" y="2436475"/>
            <a:ext cx="4375071" cy="2893100"/>
          </a:xfrm>
          <a:prstGeom prst="rect">
            <a:avLst/>
          </a:prstGeom>
          <a:noFill/>
        </p:spPr>
        <p:txBody>
          <a:bodyPr wrap="square" lIns="91440" tIns="45720" rIns="91440" bIns="45720">
            <a:spAutoFit/>
          </a:bodyPr>
          <a:lstStyle/>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Design a Meta-Cognitive Temperature Regulation framework for Transformer models.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Develop a Meta-Cognitive State Estimator capable of measuring confidence, uncertainty, reasoning stability, and novelty.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Predict decoding temperature dynamically during inference.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Improve reasoning accuracy while maintaining computational efficiency.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Reduce hallucination and overconfidence. Improve calibration and interpretability.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Benchmark the framework on standard reasoning datasets.</a:t>
            </a:r>
            <a:endParaRPr lang="en-US"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11BAC8FF-15E9-6105-F23F-E3357986680B}"/>
              </a:ext>
            </a:extLst>
          </p:cNvPr>
          <p:cNvSpPr/>
          <p:nvPr/>
        </p:nvSpPr>
        <p:spPr>
          <a:xfrm>
            <a:off x="6776722" y="2436475"/>
            <a:ext cx="4375071" cy="3323987"/>
          </a:xfrm>
          <a:prstGeom prst="rect">
            <a:avLst/>
          </a:prstGeom>
          <a:noFill/>
        </p:spPr>
        <p:txBody>
          <a:bodyPr wrap="square" lIns="91440" tIns="45720" rIns="91440" bIns="45720">
            <a:spAutoFit/>
          </a:bodyPr>
          <a:lstStyle/>
          <a:p>
            <a:pPr algn="just"/>
            <a:r>
              <a:rPr lang="en-IN" sz="1400" b="1" dirty="0">
                <a:latin typeface="Arial" panose="020B0604020202020204" pitchFamily="34" charset="0"/>
                <a:cs typeface="Arial" panose="020B0604020202020204" pitchFamily="34" charset="0"/>
              </a:rPr>
              <a:t>Included</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Transformer-based LLMs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Dynamic temperature prediction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Meta-cognitive state estimation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Inference-time regulation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Open-source foundation models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Mathematical and reasoning benchmarks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Hallucination analysis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Calibration evaluation </a:t>
            </a:r>
          </a:p>
          <a:p>
            <a:pPr algn="just"/>
            <a:r>
              <a:rPr lang="en-IN" sz="1400" b="1" dirty="0">
                <a:latin typeface="Arial" panose="020B0604020202020204" pitchFamily="34" charset="0"/>
                <a:cs typeface="Arial" panose="020B0604020202020204" pitchFamily="34" charset="0"/>
              </a:rPr>
              <a:t>Excluded</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Training a foundation model from scratch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Multimodal reasoning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Speech and vision processing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Hardware optimization </a:t>
            </a:r>
          </a:p>
          <a:p>
            <a:pPr marL="285750" indent="-285750" algn="just">
              <a:buFont typeface="Arial" panose="020B0604020202020204" pitchFamily="34" charset="0"/>
              <a:buChar char="•"/>
            </a:pPr>
            <a:r>
              <a:rPr lang="en-IN" sz="1400" dirty="0">
                <a:latin typeface="Arial" panose="020B0604020202020204" pitchFamily="34" charset="0"/>
                <a:cs typeface="Arial" panose="020B0604020202020204" pitchFamily="34" charset="0"/>
              </a:rPr>
              <a:t>Distributed training infrastructure </a:t>
            </a:r>
          </a:p>
        </p:txBody>
      </p:sp>
      <p:sp>
        <p:nvSpPr>
          <p:cNvPr id="12" name="Rectangle 11">
            <a:extLst>
              <a:ext uri="{FF2B5EF4-FFF2-40B4-BE49-F238E27FC236}">
                <a16:creationId xmlns:a16="http://schemas.microsoft.com/office/drawing/2014/main" id="{8B4454C7-5F75-0958-DF9B-73E0F1A41122}"/>
              </a:ext>
            </a:extLst>
          </p:cNvPr>
          <p:cNvSpPr/>
          <p:nvPr/>
        </p:nvSpPr>
        <p:spPr>
          <a:xfrm>
            <a:off x="2566345" y="2097921"/>
            <a:ext cx="1322798" cy="338554"/>
          </a:xfrm>
          <a:prstGeom prst="rect">
            <a:avLst/>
          </a:prstGeom>
          <a:noFill/>
        </p:spPr>
        <p:txBody>
          <a:bodyPr wrap="none" lIns="91440" tIns="45720" rIns="91440" bIns="45720">
            <a:spAutoFit/>
          </a:bodyPr>
          <a:lstStyle/>
          <a:p>
            <a:pPr algn="ctr"/>
            <a:r>
              <a:rPr lang="en-US" sz="1600" b="0" cap="none" spc="0" dirty="0">
                <a:ln w="0"/>
                <a:solidFill>
                  <a:srgbClr val="C0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OBJECTIVE</a:t>
            </a:r>
          </a:p>
        </p:txBody>
      </p:sp>
      <p:sp>
        <p:nvSpPr>
          <p:cNvPr id="14" name="Rectangle 13">
            <a:extLst>
              <a:ext uri="{FF2B5EF4-FFF2-40B4-BE49-F238E27FC236}">
                <a16:creationId xmlns:a16="http://schemas.microsoft.com/office/drawing/2014/main" id="{5053E021-3139-2743-E1FC-CDE2667BBA4F}"/>
              </a:ext>
            </a:extLst>
          </p:cNvPr>
          <p:cNvSpPr/>
          <p:nvPr/>
        </p:nvSpPr>
        <p:spPr>
          <a:xfrm>
            <a:off x="8143198" y="2097921"/>
            <a:ext cx="821059" cy="338554"/>
          </a:xfrm>
          <a:prstGeom prst="rect">
            <a:avLst/>
          </a:prstGeom>
          <a:noFill/>
        </p:spPr>
        <p:txBody>
          <a:bodyPr wrap="none" lIns="91440" tIns="45720" rIns="91440" bIns="45720">
            <a:spAutoFit/>
          </a:bodyPr>
          <a:lstStyle/>
          <a:p>
            <a:pPr algn="ctr"/>
            <a:r>
              <a:rPr lang="en-US" sz="1600" b="0" cap="none" spc="0" dirty="0">
                <a:ln w="0"/>
                <a:solidFill>
                  <a:srgbClr val="C0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SCOPE</a:t>
            </a:r>
          </a:p>
        </p:txBody>
      </p:sp>
    </p:spTree>
    <p:extLst>
      <p:ext uri="{BB962C8B-B14F-4D97-AF65-F5344CB8AC3E}">
        <p14:creationId xmlns:p14="http://schemas.microsoft.com/office/powerpoint/2010/main" val="333931360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LITERATURE SURVEY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8</a:t>
            </a:fld>
            <a:endParaRPr lang="en-IN"/>
          </a:p>
        </p:txBody>
      </p:sp>
      <p:sp>
        <p:nvSpPr>
          <p:cNvPr id="7" name="Freeform 2">
            <a:extLst>
              <a:ext uri="{FF2B5EF4-FFF2-40B4-BE49-F238E27FC236}">
                <a16:creationId xmlns:a16="http://schemas.microsoft.com/office/drawing/2014/main" id="{DFA9198B-A985-7726-40BF-ABB0F79A71E5}"/>
              </a:ext>
            </a:extLst>
          </p:cNvPr>
          <p:cNvSpPr/>
          <p:nvPr/>
        </p:nvSpPr>
        <p:spPr>
          <a:xfrm>
            <a:off x="10858500"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sp>
        <p:nvSpPr>
          <p:cNvPr id="9" name="Rectangle 8">
            <a:extLst>
              <a:ext uri="{FF2B5EF4-FFF2-40B4-BE49-F238E27FC236}">
                <a16:creationId xmlns:a16="http://schemas.microsoft.com/office/drawing/2014/main" id="{C988C5A9-E53A-A6D8-025E-CD6882713A9F}"/>
              </a:ext>
            </a:extLst>
          </p:cNvPr>
          <p:cNvSpPr/>
          <p:nvPr/>
        </p:nvSpPr>
        <p:spPr>
          <a:xfrm>
            <a:off x="2816622" y="2073255"/>
            <a:ext cx="6558756" cy="2462213"/>
          </a:xfrm>
          <a:prstGeom prst="rect">
            <a:avLst/>
          </a:prstGeom>
          <a:noFill/>
        </p:spPr>
        <p:txBody>
          <a:bodyPr wrap="square" lIns="91440" tIns="45720" rIns="91440" bIns="45720">
            <a:spAutoFit/>
          </a:bodyPr>
          <a:lstStyle/>
          <a:p>
            <a:pPr algn="just"/>
            <a:r>
              <a:rPr lang="en-IN" sz="1400" dirty="0">
                <a:latin typeface="Arial" panose="020B0604020202020204" pitchFamily="34" charset="0"/>
                <a:cs typeface="Arial" panose="020B0604020202020204" pitchFamily="34" charset="0"/>
              </a:rPr>
              <a:t>Recent studies have demonstrated the benefits of adaptive decoding, attention-temperature modulation, and meta-cognitive decision making.  However, existing approaches generally optimize isolated components such as temperature scheduling, attention scaling, or tool invocation. None introduces a unified inference framework that continuously models the Transformer's internal cognitive state and uses it to regulate decoding behaviour throughout the reasoning process. </a:t>
            </a:r>
          </a:p>
          <a:p>
            <a:pPr algn="just"/>
            <a:endParaRPr lang="en-IN" sz="1400" dirty="0">
              <a:latin typeface="Arial" panose="020B0604020202020204" pitchFamily="34" charset="0"/>
              <a:cs typeface="Arial" panose="020B0604020202020204" pitchFamily="34" charset="0"/>
            </a:endParaRPr>
          </a:p>
          <a:p>
            <a:pPr algn="just"/>
            <a:r>
              <a:rPr lang="en-IN" sz="1400" dirty="0">
                <a:latin typeface="Arial" panose="020B0604020202020204" pitchFamily="34" charset="0"/>
                <a:cs typeface="Arial" panose="020B0604020202020204" pitchFamily="34" charset="0"/>
              </a:rPr>
              <a:t>The proposed </a:t>
            </a:r>
            <a:r>
              <a:rPr lang="en-IN" sz="1400" b="1" dirty="0">
                <a:latin typeface="Arial" panose="020B0604020202020204" pitchFamily="34" charset="0"/>
                <a:cs typeface="Arial" panose="020B0604020202020204" pitchFamily="34" charset="0"/>
              </a:rPr>
              <a:t>Meta-Cognitive Temperature Regulation</a:t>
            </a:r>
            <a:r>
              <a:rPr lang="en-IN" sz="1400" dirty="0">
                <a:latin typeface="Arial" panose="020B0604020202020204" pitchFamily="34" charset="0"/>
                <a:cs typeface="Arial" panose="020B0604020202020204" pitchFamily="34" charset="0"/>
              </a:rPr>
              <a:t> framework addresses this gap by integrating self-evaluation directly into inference, enabling adaptive and cognitively inspired reasoning.</a:t>
            </a:r>
            <a:endParaRPr lang="en-US"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448317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711199" y="832613"/>
            <a:ext cx="10668000" cy="661553"/>
          </a:xfrm>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LITERATURE SURVEY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9</a:t>
            </a:fld>
            <a:endParaRPr lang="en-IN"/>
          </a:p>
        </p:txBody>
      </p:sp>
      <p:sp>
        <p:nvSpPr>
          <p:cNvPr id="3" name="Freeform 2">
            <a:extLst>
              <a:ext uri="{FF2B5EF4-FFF2-40B4-BE49-F238E27FC236}">
                <a16:creationId xmlns:a16="http://schemas.microsoft.com/office/drawing/2014/main" id="{D4C2481D-A0B3-A9B5-CB5F-7564200C0D92}"/>
              </a:ext>
            </a:extLst>
          </p:cNvPr>
          <p:cNvSpPr/>
          <p:nvPr/>
        </p:nvSpPr>
        <p:spPr>
          <a:xfrm>
            <a:off x="10962973" y="21190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graphicFrame>
        <p:nvGraphicFramePr>
          <p:cNvPr id="15" name="Table 14">
            <a:extLst>
              <a:ext uri="{FF2B5EF4-FFF2-40B4-BE49-F238E27FC236}">
                <a16:creationId xmlns:a16="http://schemas.microsoft.com/office/drawing/2014/main" id="{3DBE4889-9951-2D17-D9C4-80A63BA7C8A9}"/>
              </a:ext>
            </a:extLst>
          </p:cNvPr>
          <p:cNvGraphicFramePr>
            <a:graphicFrameLocks noGrp="1"/>
          </p:cNvGraphicFramePr>
          <p:nvPr>
            <p:extLst>
              <p:ext uri="{D42A27DB-BD31-4B8C-83A1-F6EECF244321}">
                <p14:modId xmlns:p14="http://schemas.microsoft.com/office/powerpoint/2010/main" val="926086626"/>
              </p:ext>
            </p:extLst>
          </p:nvPr>
        </p:nvGraphicFramePr>
        <p:xfrm>
          <a:off x="1138989" y="1790638"/>
          <a:ext cx="10296694" cy="3845560"/>
        </p:xfrm>
        <a:graphic>
          <a:graphicData uri="http://schemas.openxmlformats.org/drawingml/2006/table">
            <a:tbl>
              <a:tblPr firstRow="1" bandRow="1">
                <a:tableStyleId>{17292A2E-F333-43FB-9621-5CBBE7FDCDCB}</a:tableStyleId>
              </a:tblPr>
              <a:tblGrid>
                <a:gridCol w="3112723">
                  <a:extLst>
                    <a:ext uri="{9D8B030D-6E8A-4147-A177-3AD203B41FA5}">
                      <a16:colId xmlns:a16="http://schemas.microsoft.com/office/drawing/2014/main" val="758125454"/>
                    </a:ext>
                  </a:extLst>
                </a:gridCol>
                <a:gridCol w="1953913">
                  <a:extLst>
                    <a:ext uri="{9D8B030D-6E8A-4147-A177-3AD203B41FA5}">
                      <a16:colId xmlns:a16="http://schemas.microsoft.com/office/drawing/2014/main" val="3701925033"/>
                    </a:ext>
                  </a:extLst>
                </a:gridCol>
                <a:gridCol w="2017628">
                  <a:extLst>
                    <a:ext uri="{9D8B030D-6E8A-4147-A177-3AD203B41FA5}">
                      <a16:colId xmlns:a16="http://schemas.microsoft.com/office/drawing/2014/main" val="23728812"/>
                    </a:ext>
                  </a:extLst>
                </a:gridCol>
                <a:gridCol w="3212430">
                  <a:extLst>
                    <a:ext uri="{9D8B030D-6E8A-4147-A177-3AD203B41FA5}">
                      <a16:colId xmlns:a16="http://schemas.microsoft.com/office/drawing/2014/main" val="290443373"/>
                    </a:ext>
                  </a:extLst>
                </a:gridCol>
              </a:tblGrid>
              <a:tr h="370840">
                <a:tc>
                  <a:txBody>
                    <a:bodyPr/>
                    <a:lstStyle/>
                    <a:p>
                      <a:r>
                        <a:rPr lang="en-IN" dirty="0"/>
                        <a:t>Author/ Year</a:t>
                      </a:r>
                    </a:p>
                  </a:txBody>
                  <a:tcPr/>
                </a:tc>
                <a:tc>
                  <a:txBody>
                    <a:bodyPr/>
                    <a:lstStyle/>
                    <a:p>
                      <a:r>
                        <a:rPr lang="en-IN"/>
                        <a:t>Title</a:t>
                      </a:r>
                      <a:endParaRPr lang="en-IN" dirty="0"/>
                    </a:p>
                  </a:txBody>
                  <a:tcPr/>
                </a:tc>
                <a:tc>
                  <a:txBody>
                    <a:bodyPr/>
                    <a:lstStyle/>
                    <a:p>
                      <a:r>
                        <a:rPr lang="en-IN"/>
                        <a:t>Methodology/ Approach</a:t>
                      </a:r>
                      <a:endParaRPr lang="en-IN" dirty="0"/>
                    </a:p>
                  </a:txBody>
                  <a:tcPr/>
                </a:tc>
                <a:tc>
                  <a:txBody>
                    <a:bodyPr/>
                    <a:lstStyle/>
                    <a:p>
                      <a:r>
                        <a:rPr lang="en-IN"/>
                        <a:t>Key Inference</a:t>
                      </a:r>
                      <a:endParaRPr lang="en-IN" dirty="0"/>
                    </a:p>
                  </a:txBody>
                  <a:tcPr/>
                </a:tc>
                <a:extLst>
                  <a:ext uri="{0D108BD9-81ED-4DB2-BD59-A6C34878D82A}">
                    <a16:rowId xmlns:a16="http://schemas.microsoft.com/office/drawing/2014/main" val="3999977239"/>
                  </a:ext>
                </a:extLst>
              </a:tr>
              <a:tr h="370840">
                <a:tc>
                  <a:txBody>
                    <a:bodyPr/>
                    <a:lstStyle/>
                    <a:p>
                      <a:r>
                        <a:rPr lang="en-IN" sz="1200" dirty="0"/>
                        <a:t>Vaswani et al. (Transformer baseline)</a:t>
                      </a:r>
                    </a:p>
                  </a:txBody>
                  <a:tcPr/>
                </a:tc>
                <a:tc>
                  <a:txBody>
                    <a:bodyPr/>
                    <a:lstStyle/>
                    <a:p>
                      <a:r>
                        <a:rPr lang="en-IN" sz="1200" dirty="0"/>
                        <a:t>Attention Is All You Need</a:t>
                      </a:r>
                    </a:p>
                  </a:txBody>
                  <a:tcPr/>
                </a:tc>
                <a:tc>
                  <a:txBody>
                    <a:bodyPr/>
                    <a:lstStyle/>
                    <a:p>
                      <a:r>
                        <a:rPr lang="en-IN" sz="1200"/>
                        <a:t>Self-attention architecture</a:t>
                      </a:r>
                      <a:endParaRPr lang="en-IN" sz="1200" dirty="0"/>
                    </a:p>
                  </a:txBody>
                  <a:tcPr/>
                </a:tc>
                <a:tc>
                  <a:txBody>
                    <a:bodyPr/>
                    <a:lstStyle/>
                    <a:p>
                      <a:r>
                        <a:rPr lang="en-IN" sz="1200"/>
                        <a:t>Foundation of Transformer models</a:t>
                      </a:r>
                      <a:endParaRPr lang="en-IN" sz="1200" dirty="0"/>
                    </a:p>
                  </a:txBody>
                  <a:tcPr/>
                </a:tc>
                <a:extLst>
                  <a:ext uri="{0D108BD9-81ED-4DB2-BD59-A6C34878D82A}">
                    <a16:rowId xmlns:a16="http://schemas.microsoft.com/office/drawing/2014/main" val="736506019"/>
                  </a:ext>
                </a:extLst>
              </a:tr>
              <a:tr h="370840">
                <a:tc>
                  <a:txBody>
                    <a:bodyPr/>
                    <a:lstStyle/>
                    <a:p>
                      <a:r>
                        <a:rPr lang="en-IN" sz="1200"/>
                        <a:t>Ouyang et al. (2022)</a:t>
                      </a:r>
                      <a:endParaRPr lang="en-IN" sz="1200" dirty="0"/>
                    </a:p>
                  </a:txBody>
                  <a:tcPr/>
                </a:tc>
                <a:tc>
                  <a:txBody>
                    <a:bodyPr/>
                    <a:lstStyle/>
                    <a:p>
                      <a:r>
                        <a:rPr lang="en-IN" sz="1200" dirty="0"/>
                        <a:t>Training Language Models to Follow Instructions with Human Feedback</a:t>
                      </a:r>
                    </a:p>
                  </a:txBody>
                  <a:tcPr/>
                </a:tc>
                <a:tc>
                  <a:txBody>
                    <a:bodyPr/>
                    <a:lstStyle/>
                    <a:p>
                      <a:r>
                        <a:rPr lang="en-IN" sz="1200" dirty="0"/>
                        <a:t>RLHF</a:t>
                      </a:r>
                    </a:p>
                  </a:txBody>
                  <a:tcPr/>
                </a:tc>
                <a:tc>
                  <a:txBody>
                    <a:bodyPr/>
                    <a:lstStyle/>
                    <a:p>
                      <a:r>
                        <a:rPr lang="en-IN" sz="1200" dirty="0"/>
                        <a:t>Improved instruction following</a:t>
                      </a:r>
                    </a:p>
                  </a:txBody>
                  <a:tcPr/>
                </a:tc>
                <a:extLst>
                  <a:ext uri="{0D108BD9-81ED-4DB2-BD59-A6C34878D82A}">
                    <a16:rowId xmlns:a16="http://schemas.microsoft.com/office/drawing/2014/main" val="2824907428"/>
                  </a:ext>
                </a:extLst>
              </a:tr>
              <a:tr h="370840">
                <a:tc>
                  <a:txBody>
                    <a:bodyPr/>
                    <a:lstStyle/>
                    <a:p>
                      <a:r>
                        <a:rPr lang="en-IN" sz="1200" dirty="0"/>
                        <a:t>Jiang et al. (2023)</a:t>
                      </a:r>
                    </a:p>
                  </a:txBody>
                  <a:tcPr/>
                </a:tc>
                <a:tc>
                  <a:txBody>
                    <a:bodyPr/>
                    <a:lstStyle/>
                    <a:p>
                      <a:r>
                        <a:rPr lang="en-IN" sz="1200" dirty="0"/>
                        <a:t>Mistral 7B</a:t>
                      </a:r>
                    </a:p>
                  </a:txBody>
                  <a:tcPr/>
                </a:tc>
                <a:tc>
                  <a:txBody>
                    <a:bodyPr/>
                    <a:lstStyle/>
                    <a:p>
                      <a:r>
                        <a:rPr lang="en-IN" sz="1200" dirty="0"/>
                        <a:t>Sliding-window attention</a:t>
                      </a:r>
                    </a:p>
                  </a:txBody>
                  <a:tcPr/>
                </a:tc>
                <a:tc>
                  <a:txBody>
                    <a:bodyPr/>
                    <a:lstStyle/>
                    <a:p>
                      <a:r>
                        <a:rPr lang="en-IN" sz="1200" dirty="0"/>
                        <a:t>Efficient inference</a:t>
                      </a:r>
                    </a:p>
                  </a:txBody>
                  <a:tcPr/>
                </a:tc>
                <a:extLst>
                  <a:ext uri="{0D108BD9-81ED-4DB2-BD59-A6C34878D82A}">
                    <a16:rowId xmlns:a16="http://schemas.microsoft.com/office/drawing/2014/main" val="1727210620"/>
                  </a:ext>
                </a:extLst>
              </a:tr>
              <a:tr h="370840">
                <a:tc>
                  <a:txBody>
                    <a:bodyPr/>
                    <a:lstStyle/>
                    <a:p>
                      <a:r>
                        <a:rPr lang="en-IN" sz="1200" dirty="0"/>
                        <a:t>OpenAI (2023)</a:t>
                      </a:r>
                    </a:p>
                  </a:txBody>
                  <a:tcPr/>
                </a:tc>
                <a:tc>
                  <a:txBody>
                    <a:bodyPr/>
                    <a:lstStyle/>
                    <a:p>
                      <a:r>
                        <a:rPr lang="en-IN" sz="1200" dirty="0"/>
                        <a:t>GPT-4 Technical Report</a:t>
                      </a:r>
                    </a:p>
                  </a:txBody>
                  <a:tcPr/>
                </a:tc>
                <a:tc>
                  <a:txBody>
                    <a:bodyPr/>
                    <a:lstStyle/>
                    <a:p>
                      <a:r>
                        <a:rPr lang="en-IN" sz="1200" dirty="0"/>
                        <a:t>Large scale transformer</a:t>
                      </a:r>
                    </a:p>
                  </a:txBody>
                  <a:tcPr/>
                </a:tc>
                <a:tc>
                  <a:txBody>
                    <a:bodyPr/>
                    <a:lstStyle/>
                    <a:p>
                      <a:r>
                        <a:rPr lang="en-IN" sz="1200" dirty="0"/>
                        <a:t>Emergence reasoning</a:t>
                      </a:r>
                    </a:p>
                  </a:txBody>
                  <a:tcPr/>
                </a:tc>
                <a:extLst>
                  <a:ext uri="{0D108BD9-81ED-4DB2-BD59-A6C34878D82A}">
                    <a16:rowId xmlns:a16="http://schemas.microsoft.com/office/drawing/2014/main" val="2819246896"/>
                  </a:ext>
                </a:extLst>
              </a:tr>
              <a:tr h="0">
                <a:tc>
                  <a:txBody>
                    <a:bodyPr/>
                    <a:lstStyle/>
                    <a:p>
                      <a:r>
                        <a:rPr lang="en-IN" sz="1200" dirty="0"/>
                        <a:t>Yao et al. (2023)</a:t>
                      </a:r>
                    </a:p>
                  </a:txBody>
                  <a:tcPr/>
                </a:tc>
                <a:tc>
                  <a:txBody>
                    <a:bodyPr/>
                    <a:lstStyle/>
                    <a:p>
                      <a:r>
                        <a:rPr lang="en-IN" sz="1200" dirty="0"/>
                        <a:t>Tree of Thoughts</a:t>
                      </a:r>
                    </a:p>
                  </a:txBody>
                  <a:tcPr/>
                </a:tc>
                <a:tc>
                  <a:txBody>
                    <a:bodyPr/>
                    <a:lstStyle/>
                    <a:p>
                      <a:r>
                        <a:rPr lang="en-IN" sz="1200" dirty="0"/>
                        <a:t>Deliberate reasoning search</a:t>
                      </a:r>
                    </a:p>
                  </a:txBody>
                  <a:tcPr/>
                </a:tc>
                <a:tc>
                  <a:txBody>
                    <a:bodyPr/>
                    <a:lstStyle/>
                    <a:p>
                      <a:r>
                        <a:rPr lang="en-IN" sz="1200" dirty="0"/>
                        <a:t>Improved reasoning exploration</a:t>
                      </a:r>
                    </a:p>
                    <a:p>
                      <a:endParaRPr lang="en-IN" sz="1200" dirty="0"/>
                    </a:p>
                  </a:txBody>
                  <a:tcPr/>
                </a:tc>
                <a:extLst>
                  <a:ext uri="{0D108BD9-81ED-4DB2-BD59-A6C34878D82A}">
                    <a16:rowId xmlns:a16="http://schemas.microsoft.com/office/drawing/2014/main" val="1055267963"/>
                  </a:ext>
                </a:extLst>
              </a:tr>
              <a:tr h="370840">
                <a:tc>
                  <a:txBody>
                    <a:bodyPr/>
                    <a:lstStyle/>
                    <a:p>
                      <a:r>
                        <a:rPr lang="en-IN" sz="1200" dirty="0"/>
                        <a:t>Chuang et al. (2025)</a:t>
                      </a:r>
                    </a:p>
                  </a:txBody>
                  <a:tcPr/>
                </a:tc>
                <a:tc>
                  <a:txBody>
                    <a:bodyPr/>
                    <a:lstStyle/>
                    <a:p>
                      <a:r>
                        <a:rPr lang="en-IN" sz="1200" dirty="0"/>
                        <a:t>Learning to Route LLMs with Confidence Tokens</a:t>
                      </a:r>
                    </a:p>
                  </a:txBody>
                  <a:tcPr/>
                </a:tc>
                <a:tc>
                  <a:txBody>
                    <a:bodyPr/>
                    <a:lstStyle/>
                    <a:p>
                      <a:r>
                        <a:rPr lang="en-IN" sz="1200" dirty="0"/>
                        <a:t>Self-REF + confidence tokens +routing/rejection</a:t>
                      </a:r>
                    </a:p>
                  </a:txBody>
                  <a:tcPr/>
                </a:tc>
                <a:tc>
                  <a:txBody>
                    <a:bodyPr/>
                    <a:lstStyle/>
                    <a:p>
                      <a:r>
                        <a:rPr lang="en-IN" sz="1200" dirty="0"/>
                        <a:t>Converts model confidence into downstream routing decisions</a:t>
                      </a:r>
                    </a:p>
                  </a:txBody>
                  <a:tcPr/>
                </a:tc>
                <a:extLst>
                  <a:ext uri="{0D108BD9-81ED-4DB2-BD59-A6C34878D82A}">
                    <a16:rowId xmlns:a16="http://schemas.microsoft.com/office/drawing/2014/main" val="1183917591"/>
                  </a:ext>
                </a:extLst>
              </a:tr>
            </a:tbl>
          </a:graphicData>
        </a:graphic>
      </p:graphicFrame>
    </p:spTree>
    <p:extLst>
      <p:ext uri="{BB962C8B-B14F-4D97-AF65-F5344CB8AC3E}">
        <p14:creationId xmlns:p14="http://schemas.microsoft.com/office/powerpoint/2010/main" val="76527479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EDE5E7-232D-A207-1656-6C8056B08842}"/>
              </a:ext>
            </a:extLst>
          </p:cNvPr>
          <p:cNvSpPr>
            <a:spLocks noGrp="1"/>
          </p:cNvSpPr>
          <p:nvPr>
            <p:ph type="dt" sz="half" idx="10"/>
          </p:nvPr>
        </p:nvSpPr>
        <p:spPr>
          <a:xfrm>
            <a:off x="812800" y="6237204"/>
            <a:ext cx="2641600" cy="476250"/>
          </a:xfrm>
        </p:spPr>
        <p:txBody>
          <a:bodyPr/>
          <a:lstStyle/>
          <a:p>
            <a:pPr>
              <a:defRPr/>
            </a:pPr>
            <a:r>
              <a:rPr lang="en-US" dirty="0"/>
              <a:t>First Review</a:t>
            </a:r>
          </a:p>
        </p:txBody>
      </p:sp>
      <p:sp>
        <p:nvSpPr>
          <p:cNvPr id="3" name="Footer Placeholder 2">
            <a:extLst>
              <a:ext uri="{FF2B5EF4-FFF2-40B4-BE49-F238E27FC236}">
                <a16:creationId xmlns:a16="http://schemas.microsoft.com/office/drawing/2014/main" id="{2214A36E-90BC-18CD-B46D-8D5BCDA7FB53}"/>
              </a:ext>
            </a:extLst>
          </p:cNvPr>
          <p:cNvSpPr>
            <a:spLocks noGrp="1"/>
          </p:cNvSpPr>
          <p:nvPr>
            <p:ph type="ftr" sz="quarter" idx="11"/>
          </p:nvPr>
        </p:nvSpPr>
        <p:spPr/>
        <p:txBody>
          <a:bodyPr/>
          <a:lstStyle/>
          <a:p>
            <a:pPr>
              <a:defRPr/>
            </a:pPr>
            <a:r>
              <a:rPr lang="en-US" dirty="0"/>
              <a:t>Department of AI &amp; ML</a:t>
            </a:r>
          </a:p>
        </p:txBody>
      </p:sp>
      <p:sp>
        <p:nvSpPr>
          <p:cNvPr id="4" name="Slide Number Placeholder 3">
            <a:extLst>
              <a:ext uri="{FF2B5EF4-FFF2-40B4-BE49-F238E27FC236}">
                <a16:creationId xmlns:a16="http://schemas.microsoft.com/office/drawing/2014/main" id="{9E0522BD-3018-DF93-A609-E058CEAB59D8}"/>
              </a:ext>
            </a:extLst>
          </p:cNvPr>
          <p:cNvSpPr>
            <a:spLocks noGrp="1"/>
          </p:cNvSpPr>
          <p:nvPr>
            <p:ph type="sldNum" sz="quarter" idx="12"/>
          </p:nvPr>
        </p:nvSpPr>
        <p:spPr/>
        <p:txBody>
          <a:bodyPr/>
          <a:lstStyle/>
          <a:p>
            <a:pPr>
              <a:defRPr/>
            </a:pPr>
            <a:fld id="{DD537315-F462-4C74-88B4-A900525A3FAA}" type="slidenum">
              <a:rPr lang="en-US" altLang="en-US" smtClean="0"/>
              <a:pPr>
                <a:defRPr/>
              </a:pPr>
              <a:t>10</a:t>
            </a:fld>
            <a:endParaRPr lang="en-US" altLang="en-US"/>
          </a:p>
        </p:txBody>
      </p:sp>
      <p:sp>
        <p:nvSpPr>
          <p:cNvPr id="6" name="Freeform 2">
            <a:extLst>
              <a:ext uri="{FF2B5EF4-FFF2-40B4-BE49-F238E27FC236}">
                <a16:creationId xmlns:a16="http://schemas.microsoft.com/office/drawing/2014/main" id="{33857488-FC72-8382-3A8D-6AF724D75B8B}"/>
              </a:ext>
            </a:extLst>
          </p:cNvPr>
          <p:cNvSpPr/>
          <p:nvPr/>
        </p:nvSpPr>
        <p:spPr>
          <a:xfrm>
            <a:off x="10962973" y="21190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2"/>
            <a:stretch>
              <a:fillRect/>
            </a:stretch>
          </a:blipFill>
        </p:spPr>
      </p:sp>
      <p:graphicFrame>
        <p:nvGraphicFramePr>
          <p:cNvPr id="7" name="Table 6">
            <a:extLst>
              <a:ext uri="{FF2B5EF4-FFF2-40B4-BE49-F238E27FC236}">
                <a16:creationId xmlns:a16="http://schemas.microsoft.com/office/drawing/2014/main" id="{E7A379D6-AF47-A42C-C84E-B582C8CE22DF}"/>
              </a:ext>
            </a:extLst>
          </p:cNvPr>
          <p:cNvGraphicFramePr>
            <a:graphicFrameLocks noGrp="1"/>
          </p:cNvGraphicFramePr>
          <p:nvPr>
            <p:extLst>
              <p:ext uri="{D42A27DB-BD31-4B8C-83A1-F6EECF244321}">
                <p14:modId xmlns:p14="http://schemas.microsoft.com/office/powerpoint/2010/main" val="2936135587"/>
              </p:ext>
            </p:extLst>
          </p:nvPr>
        </p:nvGraphicFramePr>
        <p:xfrm>
          <a:off x="1042737" y="1852863"/>
          <a:ext cx="10202780" cy="3931920"/>
        </p:xfrm>
        <a:graphic>
          <a:graphicData uri="http://schemas.openxmlformats.org/drawingml/2006/table">
            <a:tbl>
              <a:tblPr firstRow="1" bandRow="1">
                <a:tableStyleId>{17292A2E-F333-43FB-9621-5CBBE7FDCDCB}</a:tableStyleId>
              </a:tblPr>
              <a:tblGrid>
                <a:gridCol w="2550695">
                  <a:extLst>
                    <a:ext uri="{9D8B030D-6E8A-4147-A177-3AD203B41FA5}">
                      <a16:colId xmlns:a16="http://schemas.microsoft.com/office/drawing/2014/main" val="2506261588"/>
                    </a:ext>
                  </a:extLst>
                </a:gridCol>
                <a:gridCol w="2550695">
                  <a:extLst>
                    <a:ext uri="{9D8B030D-6E8A-4147-A177-3AD203B41FA5}">
                      <a16:colId xmlns:a16="http://schemas.microsoft.com/office/drawing/2014/main" val="4025604087"/>
                    </a:ext>
                  </a:extLst>
                </a:gridCol>
                <a:gridCol w="2550695">
                  <a:extLst>
                    <a:ext uri="{9D8B030D-6E8A-4147-A177-3AD203B41FA5}">
                      <a16:colId xmlns:a16="http://schemas.microsoft.com/office/drawing/2014/main" val="152040903"/>
                    </a:ext>
                  </a:extLst>
                </a:gridCol>
                <a:gridCol w="2550695">
                  <a:extLst>
                    <a:ext uri="{9D8B030D-6E8A-4147-A177-3AD203B41FA5}">
                      <a16:colId xmlns:a16="http://schemas.microsoft.com/office/drawing/2014/main" val="345695106"/>
                    </a:ext>
                  </a:extLst>
                </a:gridCol>
              </a:tblGrid>
              <a:tr h="392674">
                <a:tc>
                  <a:txBody>
                    <a:bodyPr/>
                    <a:lstStyle/>
                    <a:p>
                      <a:r>
                        <a:rPr lang="en-IN" dirty="0"/>
                        <a:t>Author/ Year</a:t>
                      </a:r>
                    </a:p>
                  </a:txBody>
                  <a:tcPr/>
                </a:tc>
                <a:tc>
                  <a:txBody>
                    <a:bodyPr/>
                    <a:lstStyle/>
                    <a:p>
                      <a:r>
                        <a:rPr lang="en-IN"/>
                        <a:t>Title</a:t>
                      </a:r>
                      <a:endParaRPr lang="en-IN" dirty="0"/>
                    </a:p>
                  </a:txBody>
                  <a:tcPr/>
                </a:tc>
                <a:tc>
                  <a:txBody>
                    <a:bodyPr/>
                    <a:lstStyle/>
                    <a:p>
                      <a:r>
                        <a:rPr lang="en-IN"/>
                        <a:t>Methodology/ Approach</a:t>
                      </a:r>
                      <a:endParaRPr lang="en-IN" dirty="0"/>
                    </a:p>
                  </a:txBody>
                  <a:tcPr/>
                </a:tc>
                <a:tc>
                  <a:txBody>
                    <a:bodyPr/>
                    <a:lstStyle/>
                    <a:p>
                      <a:r>
                        <a:rPr lang="en-IN"/>
                        <a:t>Key Inference</a:t>
                      </a:r>
                      <a:endParaRPr lang="en-IN" dirty="0"/>
                    </a:p>
                  </a:txBody>
                  <a:tcPr/>
                </a:tc>
                <a:extLst>
                  <a:ext uri="{0D108BD9-81ED-4DB2-BD59-A6C34878D82A}">
                    <a16:rowId xmlns:a16="http://schemas.microsoft.com/office/drawing/2014/main" val="1842463056"/>
                  </a:ext>
                </a:extLst>
              </a:tr>
              <a:tr h="593825">
                <a:tc>
                  <a:txBody>
                    <a:bodyPr/>
                    <a:lstStyle/>
                    <a:p>
                      <a:r>
                        <a:rPr lang="en-IN" sz="1200" dirty="0"/>
                        <a:t>Ma et al. (2025)</a:t>
                      </a:r>
                    </a:p>
                  </a:txBody>
                  <a:tcPr/>
                </a:tc>
                <a:tc>
                  <a:txBody>
                    <a:bodyPr/>
                    <a:lstStyle/>
                    <a:p>
                      <a:pPr algn="just"/>
                      <a:r>
                        <a:rPr lang="en-IN" sz="1200" dirty="0"/>
                        <a:t>Large Language Models Have Intrinsic Meta-Cognition, but Need a Good Lens</a:t>
                      </a:r>
                    </a:p>
                  </a:txBody>
                  <a:tcPr/>
                </a:tc>
                <a:tc>
                  <a:txBody>
                    <a:bodyPr/>
                    <a:lstStyle/>
                    <a:p>
                      <a:pPr algn="just"/>
                      <a:r>
                        <a:rPr lang="en-IN" sz="1200" dirty="0" err="1"/>
                        <a:t>AutoMeco</a:t>
                      </a:r>
                      <a:r>
                        <a:rPr lang="en-IN" sz="1200" dirty="0"/>
                        <a:t> + MIRA; step-level meta-cognition evaluation</a:t>
                      </a:r>
                    </a:p>
                  </a:txBody>
                  <a:tcPr/>
                </a:tc>
                <a:tc>
                  <a:txBody>
                    <a:bodyPr/>
                    <a:lstStyle/>
                    <a:p>
                      <a:pPr algn="just"/>
                      <a:r>
                        <a:rPr lang="en-IN" sz="1200" dirty="0"/>
                        <a:t>Shows that LLMs contain measurable meta-cognitive signals and studies how to evaluate them</a:t>
                      </a:r>
                    </a:p>
                  </a:txBody>
                  <a:tcPr/>
                </a:tc>
                <a:extLst>
                  <a:ext uri="{0D108BD9-81ED-4DB2-BD59-A6C34878D82A}">
                    <a16:rowId xmlns:a16="http://schemas.microsoft.com/office/drawing/2014/main" val="1781100168"/>
                  </a:ext>
                </a:extLst>
              </a:tr>
              <a:tr h="370840">
                <a:tc>
                  <a:txBody>
                    <a:bodyPr/>
                    <a:lstStyle/>
                    <a:p>
                      <a:r>
                        <a:rPr lang="en-IN" sz="1200" dirty="0"/>
                        <a:t>Xu et al. (2024)</a:t>
                      </a:r>
                    </a:p>
                  </a:txBody>
                  <a:tcPr/>
                </a:tc>
                <a:tc>
                  <a:txBody>
                    <a:bodyPr/>
                    <a:lstStyle/>
                    <a:p>
                      <a:pPr algn="just"/>
                      <a:r>
                        <a:rPr lang="en-IN" sz="1200" dirty="0" err="1"/>
                        <a:t>SaySelf</a:t>
                      </a:r>
                      <a:r>
                        <a:rPr lang="en-IN" sz="1200" dirty="0"/>
                        <a:t>: Teaching LLMs to Express Confidence with Self-Reflective Rationales</a:t>
                      </a:r>
                    </a:p>
                  </a:txBody>
                  <a:tcPr/>
                </a:tc>
                <a:tc>
                  <a:txBody>
                    <a:bodyPr/>
                    <a:lstStyle/>
                    <a:p>
                      <a:pPr algn="just"/>
                      <a:r>
                        <a:rPr lang="en-IN" sz="1200" dirty="0"/>
                        <a:t>Supervised fine-tuning + RL for confidence calibration</a:t>
                      </a:r>
                    </a:p>
                  </a:txBody>
                  <a:tcPr/>
                </a:tc>
                <a:tc>
                  <a:txBody>
                    <a:bodyPr/>
                    <a:lstStyle/>
                    <a:p>
                      <a:pPr algn="just"/>
                      <a:r>
                        <a:rPr lang="en-IN" sz="1200" dirty="0"/>
                        <a:t>Enables fine-grained confidence and self-reflective uncertainty explanations</a:t>
                      </a:r>
                    </a:p>
                  </a:txBody>
                  <a:tcPr/>
                </a:tc>
                <a:extLst>
                  <a:ext uri="{0D108BD9-81ED-4DB2-BD59-A6C34878D82A}">
                    <a16:rowId xmlns:a16="http://schemas.microsoft.com/office/drawing/2014/main" val="3062699468"/>
                  </a:ext>
                </a:extLst>
              </a:tr>
              <a:tr h="370840">
                <a:tc>
                  <a:txBody>
                    <a:bodyPr/>
                    <a:lstStyle/>
                    <a:p>
                      <a:r>
                        <a:rPr lang="en-IN" sz="1200" dirty="0"/>
                        <a:t>Li et al. (2024)</a:t>
                      </a:r>
                    </a:p>
                  </a:txBody>
                  <a:tcPr/>
                </a:tc>
                <a:tc>
                  <a:txBody>
                    <a:bodyPr/>
                    <a:lstStyle/>
                    <a:p>
                      <a:pPr algn="just"/>
                      <a:r>
                        <a:rPr lang="en-IN" sz="1200" dirty="0"/>
                        <a:t>Think Twice Before Trusting: Self-Detection for Large Language Models through Comprehensive Answer Reflection</a:t>
                      </a:r>
                    </a:p>
                  </a:txBody>
                  <a:tcPr/>
                </a:tc>
                <a:tc>
                  <a:txBody>
                    <a:bodyPr/>
                    <a:lstStyle/>
                    <a:p>
                      <a:pPr algn="just"/>
                      <a:r>
                        <a:rPr lang="en-IN" sz="1200" dirty="0"/>
                        <a:t>Candidate generation + reflection + answer-space comparison</a:t>
                      </a:r>
                    </a:p>
                  </a:txBody>
                  <a:tcPr/>
                </a:tc>
                <a:tc>
                  <a:txBody>
                    <a:bodyPr/>
                    <a:lstStyle/>
                    <a:p>
                      <a:pPr algn="just"/>
                      <a:r>
                        <a:rPr lang="en-IN" sz="1200" dirty="0"/>
                        <a:t>Improves detection of unreliable outputs through retrospective self-evaluation</a:t>
                      </a:r>
                    </a:p>
                  </a:txBody>
                  <a:tcPr/>
                </a:tc>
                <a:extLst>
                  <a:ext uri="{0D108BD9-81ED-4DB2-BD59-A6C34878D82A}">
                    <a16:rowId xmlns:a16="http://schemas.microsoft.com/office/drawing/2014/main" val="416321132"/>
                  </a:ext>
                </a:extLst>
              </a:tr>
              <a:tr h="370840">
                <a:tc>
                  <a:txBody>
                    <a:bodyPr/>
                    <a:lstStyle/>
                    <a:p>
                      <a:r>
                        <a:rPr lang="en-IN" sz="1200" dirty="0"/>
                        <a:t>Xiong et al. (2024)</a:t>
                      </a:r>
                    </a:p>
                  </a:txBody>
                  <a:tcPr/>
                </a:tc>
                <a:tc>
                  <a:txBody>
                    <a:bodyPr/>
                    <a:lstStyle/>
                    <a:p>
                      <a:pPr algn="just"/>
                      <a:r>
                        <a:rPr lang="en-IN" sz="1200" dirty="0"/>
                        <a:t>Can LLMs Express Their Uncertainty? An Empirical Evaluation of Confidence Elicitation in LLMs</a:t>
                      </a:r>
                    </a:p>
                  </a:txBody>
                  <a:tcPr/>
                </a:tc>
                <a:tc>
                  <a:txBody>
                    <a:bodyPr/>
                    <a:lstStyle/>
                    <a:p>
                      <a:pPr algn="just"/>
                      <a:r>
                        <a:rPr lang="en-IN" sz="1200" dirty="0"/>
                        <a:t>Prompting, sampling, response consistency</a:t>
                      </a:r>
                    </a:p>
                  </a:txBody>
                  <a:tcPr/>
                </a:tc>
                <a:tc>
                  <a:txBody>
                    <a:bodyPr/>
                    <a:lstStyle/>
                    <a:p>
                      <a:pPr algn="just"/>
                      <a:r>
                        <a:rPr lang="en-IN" sz="1200" dirty="0"/>
                        <a:t>Establishes systematic methods for eliciting uncertainty/confidence from LLMs</a:t>
                      </a:r>
                    </a:p>
                  </a:txBody>
                  <a:tcPr/>
                </a:tc>
                <a:extLst>
                  <a:ext uri="{0D108BD9-81ED-4DB2-BD59-A6C34878D82A}">
                    <a16:rowId xmlns:a16="http://schemas.microsoft.com/office/drawing/2014/main" val="2450690807"/>
                  </a:ext>
                </a:extLst>
              </a:tr>
            </a:tbl>
          </a:graphicData>
        </a:graphic>
      </p:graphicFrame>
      <p:sp>
        <p:nvSpPr>
          <p:cNvPr id="10" name="TextBox 9">
            <a:extLst>
              <a:ext uri="{FF2B5EF4-FFF2-40B4-BE49-F238E27FC236}">
                <a16:creationId xmlns:a16="http://schemas.microsoft.com/office/drawing/2014/main" id="{08ECBBE2-E0F6-6F6B-8872-CBE21DB18E68}"/>
              </a:ext>
            </a:extLst>
          </p:cNvPr>
          <p:cNvSpPr txBox="1"/>
          <p:nvPr/>
        </p:nvSpPr>
        <p:spPr>
          <a:xfrm>
            <a:off x="3454400" y="898739"/>
            <a:ext cx="6096000" cy="584775"/>
          </a:xfrm>
          <a:prstGeom prst="rect">
            <a:avLst/>
          </a:prstGeom>
          <a:noFill/>
        </p:spPr>
        <p:txBody>
          <a:bodyPr wrap="square">
            <a:spAutoFit/>
          </a:bodyPr>
          <a:lstStyle/>
          <a:p>
            <a:r>
              <a:rPr lang="en-IN" sz="3200" b="1" dirty="0">
                <a:solidFill>
                  <a:srgbClr val="FF0000"/>
                </a:solidFill>
                <a:latin typeface="Times New Roman" panose="02020603050405020304" pitchFamily="18" charset="0"/>
                <a:cs typeface="Times New Roman" panose="02020603050405020304" pitchFamily="18" charset="0"/>
              </a:rPr>
              <a:t>LITERATURE SURVEY </a:t>
            </a:r>
            <a:endParaRPr lang="en-IN" dirty="0"/>
          </a:p>
        </p:txBody>
      </p:sp>
    </p:spTree>
    <p:extLst>
      <p:ext uri="{BB962C8B-B14F-4D97-AF65-F5344CB8AC3E}">
        <p14:creationId xmlns:p14="http://schemas.microsoft.com/office/powerpoint/2010/main" val="2476464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5C559B27-D4CA-48FB-58B2-6936A86E1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67400-C03A-E85F-D2EE-CE097B5C5BEA}"/>
              </a:ext>
            </a:extLst>
          </p:cNvPr>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SUMMARY OF LITERATURE SURVEY</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872E725-3283-62CA-9826-E8BFE5053F88}"/>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675BC034-4185-E515-C156-7EAE79722ABE}"/>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44CCFB79-0F48-947E-DF69-33DCA44D615D}"/>
              </a:ext>
            </a:extLst>
          </p:cNvPr>
          <p:cNvSpPr>
            <a:spLocks noGrp="1"/>
          </p:cNvSpPr>
          <p:nvPr>
            <p:ph type="sldNum" sz="quarter" idx="12"/>
          </p:nvPr>
        </p:nvSpPr>
        <p:spPr/>
        <p:txBody>
          <a:bodyPr/>
          <a:lstStyle/>
          <a:p>
            <a:fld id="{5AB9ECBD-B4DD-40D5-8D24-9ECCDBB1583E}" type="slidenum">
              <a:rPr lang="en-IN" smtClean="0"/>
              <a:t>11</a:t>
            </a:fld>
            <a:endParaRPr lang="en-IN"/>
          </a:p>
        </p:txBody>
      </p:sp>
      <p:sp>
        <p:nvSpPr>
          <p:cNvPr id="7" name="Freeform 2">
            <a:extLst>
              <a:ext uri="{FF2B5EF4-FFF2-40B4-BE49-F238E27FC236}">
                <a16:creationId xmlns:a16="http://schemas.microsoft.com/office/drawing/2014/main" id="{95AECFF1-5ABE-4AAE-4EE7-38ADC775FF5F}"/>
              </a:ext>
            </a:extLst>
          </p:cNvPr>
          <p:cNvSpPr/>
          <p:nvPr/>
        </p:nvSpPr>
        <p:spPr>
          <a:xfrm>
            <a:off x="10858500"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sp>
        <p:nvSpPr>
          <p:cNvPr id="9" name="Rectangle 8">
            <a:extLst>
              <a:ext uri="{FF2B5EF4-FFF2-40B4-BE49-F238E27FC236}">
                <a16:creationId xmlns:a16="http://schemas.microsoft.com/office/drawing/2014/main" id="{5966B7AA-BE51-4EBF-B3C1-FE38123C7E16}"/>
              </a:ext>
            </a:extLst>
          </p:cNvPr>
          <p:cNvSpPr/>
          <p:nvPr/>
        </p:nvSpPr>
        <p:spPr>
          <a:xfrm>
            <a:off x="1917034" y="1890026"/>
            <a:ext cx="7940842" cy="4154984"/>
          </a:xfrm>
          <a:prstGeom prst="rect">
            <a:avLst/>
          </a:prstGeom>
          <a:noFill/>
        </p:spPr>
        <p:txBody>
          <a:bodyPr wrap="square" lIns="91440" tIns="45720" rIns="91440" bIns="45720">
            <a:spAutoFit/>
          </a:bodyPr>
          <a:lstStyle/>
          <a:p>
            <a:pPr algn="just"/>
            <a:r>
              <a:rPr lang="en-IN" sz="1200" b="1" dirty="0"/>
              <a:t>1. Transformer-based inference</a:t>
            </a:r>
            <a:endParaRPr lang="en-IN" sz="1200" dirty="0"/>
          </a:p>
          <a:p>
            <a:pPr lvl="0" algn="just"/>
            <a:r>
              <a:rPr lang="en-IN" sz="1200" dirty="0"/>
              <a:t>Established self-attention as the core mechanism for contextual information processing. </a:t>
            </a:r>
          </a:p>
          <a:p>
            <a:pPr lvl="0" algn="just"/>
            <a:r>
              <a:rPr lang="en-IN" sz="1200" dirty="0"/>
              <a:t>Provides the computational foundation for MCTR. </a:t>
            </a:r>
          </a:p>
          <a:p>
            <a:pPr lvl="0" algn="just"/>
            <a:r>
              <a:rPr lang="en-IN" sz="1200" b="1" dirty="0"/>
              <a:t>Gap:</a:t>
            </a:r>
            <a:r>
              <a:rPr lang="en-IN" sz="1200" dirty="0"/>
              <a:t> The Transformer does not explicitly monitor its own confidence, uncertainty, stability, or novelty to regulate subsequent computation. </a:t>
            </a:r>
          </a:p>
          <a:p>
            <a:pPr algn="just"/>
            <a:r>
              <a:rPr lang="en-IN" sz="1200" b="1" dirty="0"/>
              <a:t>2. Confidence and self-assessment</a:t>
            </a:r>
            <a:endParaRPr lang="en-IN" sz="1200" dirty="0"/>
          </a:p>
          <a:p>
            <a:pPr lvl="0" algn="just"/>
            <a:r>
              <a:rPr lang="en-IN" sz="1200" dirty="0"/>
              <a:t>Recent work enables language models to </a:t>
            </a:r>
            <a:r>
              <a:rPr lang="en-IN" sz="1200" b="1" dirty="0"/>
              <a:t>express and evaluate their own confidence</a:t>
            </a:r>
            <a:r>
              <a:rPr lang="en-IN" sz="1200" dirty="0"/>
              <a:t> through self-reflection. </a:t>
            </a:r>
          </a:p>
          <a:p>
            <a:pPr lvl="0" algn="just"/>
            <a:r>
              <a:rPr lang="en-IN" sz="1200" dirty="0"/>
              <a:t>Establishes the feasibility of a measurable self-assessment mechanism. </a:t>
            </a:r>
          </a:p>
          <a:p>
            <a:pPr lvl="0" algn="just"/>
            <a:r>
              <a:rPr lang="en-IN" sz="1200" b="1" dirty="0"/>
              <a:t>Gap:</a:t>
            </a:r>
            <a:r>
              <a:rPr lang="en-IN" sz="1200" dirty="0"/>
              <a:t> Confidence is primarily expressed or evaluated rather than converted into a continuous inference-time control signal. </a:t>
            </a:r>
          </a:p>
          <a:p>
            <a:pPr algn="just"/>
            <a:r>
              <a:rPr lang="en-IN" sz="1200" b="1" dirty="0"/>
              <a:t>3. Intrinsic meta-cognition</a:t>
            </a:r>
            <a:endParaRPr lang="en-IN" sz="1200" dirty="0"/>
          </a:p>
          <a:p>
            <a:pPr lvl="0" algn="just"/>
            <a:r>
              <a:rPr lang="en-IN" sz="1200" dirty="0"/>
              <a:t>Recent research demonstrates that LLMs contain </a:t>
            </a:r>
            <a:r>
              <a:rPr lang="en-IN" sz="1200" b="1" dirty="0"/>
              <a:t>measurable internal meta-cognitive signals</a:t>
            </a:r>
            <a:r>
              <a:rPr lang="en-IN" sz="1200" dirty="0"/>
              <a:t>. </a:t>
            </a:r>
          </a:p>
          <a:p>
            <a:pPr lvl="0" algn="just"/>
            <a:r>
              <a:rPr lang="en-IN" sz="1200" dirty="0"/>
              <a:t>Supports the idea of constructing a meta-cognitive state from the model's own inference. </a:t>
            </a:r>
          </a:p>
          <a:p>
            <a:pPr lvl="0" algn="just"/>
            <a:r>
              <a:rPr lang="en-IN" sz="1200" b="1" dirty="0"/>
              <a:t>Gap:</a:t>
            </a:r>
            <a:r>
              <a:rPr lang="en-IN" sz="1200" dirty="0"/>
              <a:t> These signals are mainly used for measurement and analysis rather than for dynamically regulating the model's next computational state. </a:t>
            </a:r>
          </a:p>
          <a:p>
            <a:pPr algn="just"/>
            <a:r>
              <a:rPr lang="en-IN" sz="1200" b="1" dirty="0"/>
              <a:t>4. Confidence-based inference control</a:t>
            </a:r>
            <a:endParaRPr lang="en-IN" sz="1200" dirty="0"/>
          </a:p>
          <a:p>
            <a:pPr lvl="0" algn="just"/>
            <a:r>
              <a:rPr lang="en-IN" sz="1200" dirty="0"/>
              <a:t>Confidence can be used to make </a:t>
            </a:r>
            <a:r>
              <a:rPr lang="en-IN" sz="1200" b="1" dirty="0"/>
              <a:t>inference-time decisions</a:t>
            </a:r>
            <a:r>
              <a:rPr lang="en-IN" sz="1200" dirty="0"/>
              <a:t>, such as routing or selective computation. </a:t>
            </a:r>
          </a:p>
          <a:p>
            <a:pPr lvl="0" algn="just"/>
            <a:r>
              <a:rPr lang="en-IN" sz="1200" dirty="0"/>
              <a:t>Demonstrates that model self-assessment can influence computational </a:t>
            </a:r>
            <a:r>
              <a:rPr lang="en-IN" sz="1200" dirty="0" err="1"/>
              <a:t>behavior</a:t>
            </a:r>
            <a:r>
              <a:rPr lang="en-IN" sz="1200" dirty="0"/>
              <a:t>. </a:t>
            </a:r>
          </a:p>
          <a:p>
            <a:pPr lvl="0" algn="just"/>
            <a:r>
              <a:rPr lang="en-IN" sz="1200" b="1" dirty="0"/>
              <a:t>Gap:</a:t>
            </a:r>
            <a:r>
              <a:rPr lang="en-IN" sz="1200" dirty="0"/>
              <a:t> Existing control generally operates at the system/model-selection level rather than directly regulating the same Transformer's </a:t>
            </a:r>
            <a:r>
              <a:rPr lang="en-IN" sz="1200" b="1" dirty="0"/>
              <a:t>decoding temperature and attention</a:t>
            </a:r>
            <a:r>
              <a:rPr lang="en-IN" sz="1200" dirty="0"/>
              <a:t>.</a:t>
            </a:r>
          </a:p>
        </p:txBody>
      </p:sp>
    </p:spTree>
    <p:extLst>
      <p:ext uri="{BB962C8B-B14F-4D97-AF65-F5344CB8AC3E}">
        <p14:creationId xmlns:p14="http://schemas.microsoft.com/office/powerpoint/2010/main" val="151353186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2F7188EE-AE59-5A51-0718-C48CE8249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79E47-9522-B058-B065-93A320DD7DBB}"/>
              </a:ext>
            </a:extLst>
          </p:cNvPr>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RESEARCH GAP</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D76FDF2-758B-AF93-8BD7-F75B350E24C3}"/>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8AAA82CD-44D6-F8BF-4C29-F80C76CE38E1}"/>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E89BED77-3B3E-4F47-4940-5DB95A093269}"/>
              </a:ext>
            </a:extLst>
          </p:cNvPr>
          <p:cNvSpPr>
            <a:spLocks noGrp="1"/>
          </p:cNvSpPr>
          <p:nvPr>
            <p:ph type="sldNum" sz="quarter" idx="12"/>
          </p:nvPr>
        </p:nvSpPr>
        <p:spPr/>
        <p:txBody>
          <a:bodyPr/>
          <a:lstStyle/>
          <a:p>
            <a:fld id="{5AB9ECBD-B4DD-40D5-8D24-9ECCDBB1583E}" type="slidenum">
              <a:rPr lang="en-IN" smtClean="0"/>
              <a:t>12</a:t>
            </a:fld>
            <a:endParaRPr lang="en-IN"/>
          </a:p>
        </p:txBody>
      </p:sp>
      <p:sp>
        <p:nvSpPr>
          <p:cNvPr id="7" name="Freeform 2">
            <a:extLst>
              <a:ext uri="{FF2B5EF4-FFF2-40B4-BE49-F238E27FC236}">
                <a16:creationId xmlns:a16="http://schemas.microsoft.com/office/drawing/2014/main" id="{A7EC3D7B-DC98-2EC3-BB68-A0DD80599774}"/>
              </a:ext>
            </a:extLst>
          </p:cNvPr>
          <p:cNvSpPr/>
          <p:nvPr/>
        </p:nvSpPr>
        <p:spPr>
          <a:xfrm>
            <a:off x="10858500"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graphicFrame>
        <p:nvGraphicFramePr>
          <p:cNvPr id="10" name="Table 9">
            <a:extLst>
              <a:ext uri="{FF2B5EF4-FFF2-40B4-BE49-F238E27FC236}">
                <a16:creationId xmlns:a16="http://schemas.microsoft.com/office/drawing/2014/main" id="{2F4B2AD6-CFA1-51C2-2595-280F77A53837}"/>
              </a:ext>
            </a:extLst>
          </p:cNvPr>
          <p:cNvGraphicFramePr>
            <a:graphicFrameLocks noGrp="1"/>
          </p:cNvGraphicFramePr>
          <p:nvPr>
            <p:extLst>
              <p:ext uri="{D42A27DB-BD31-4B8C-83A1-F6EECF244321}">
                <p14:modId xmlns:p14="http://schemas.microsoft.com/office/powerpoint/2010/main" val="561344151"/>
              </p:ext>
            </p:extLst>
          </p:nvPr>
        </p:nvGraphicFramePr>
        <p:xfrm>
          <a:off x="617621" y="1795145"/>
          <a:ext cx="11093116" cy="4264796"/>
        </p:xfrm>
        <a:graphic>
          <a:graphicData uri="http://schemas.openxmlformats.org/drawingml/2006/table">
            <a:tbl>
              <a:tblPr firstRow="1" bandRow="1">
                <a:tableStyleId>{17292A2E-F333-43FB-9621-5CBBE7FDCDCB}</a:tableStyleId>
              </a:tblPr>
              <a:tblGrid>
                <a:gridCol w="3088105">
                  <a:extLst>
                    <a:ext uri="{9D8B030D-6E8A-4147-A177-3AD203B41FA5}">
                      <a16:colId xmlns:a16="http://schemas.microsoft.com/office/drawing/2014/main" val="2371430123"/>
                    </a:ext>
                  </a:extLst>
                </a:gridCol>
                <a:gridCol w="2535379">
                  <a:extLst>
                    <a:ext uri="{9D8B030D-6E8A-4147-A177-3AD203B41FA5}">
                      <a16:colId xmlns:a16="http://schemas.microsoft.com/office/drawing/2014/main" val="3569898361"/>
                    </a:ext>
                  </a:extLst>
                </a:gridCol>
                <a:gridCol w="2293295">
                  <a:extLst>
                    <a:ext uri="{9D8B030D-6E8A-4147-A177-3AD203B41FA5}">
                      <a16:colId xmlns:a16="http://schemas.microsoft.com/office/drawing/2014/main" val="1127870969"/>
                    </a:ext>
                  </a:extLst>
                </a:gridCol>
                <a:gridCol w="3176337">
                  <a:extLst>
                    <a:ext uri="{9D8B030D-6E8A-4147-A177-3AD203B41FA5}">
                      <a16:colId xmlns:a16="http://schemas.microsoft.com/office/drawing/2014/main" val="742082953"/>
                    </a:ext>
                  </a:extLst>
                </a:gridCol>
              </a:tblGrid>
              <a:tr h="563845">
                <a:tc>
                  <a:txBody>
                    <a:bodyPr/>
                    <a:lstStyle/>
                    <a:p>
                      <a:r>
                        <a:rPr lang="en-IN" dirty="0"/>
                        <a:t>Author/ Year</a:t>
                      </a:r>
                    </a:p>
                  </a:txBody>
                  <a:tcPr/>
                </a:tc>
                <a:tc>
                  <a:txBody>
                    <a:bodyPr/>
                    <a:lstStyle/>
                    <a:p>
                      <a:r>
                        <a:rPr lang="en-IN"/>
                        <a:t>Title</a:t>
                      </a:r>
                      <a:endParaRPr lang="en-IN" dirty="0"/>
                    </a:p>
                  </a:txBody>
                  <a:tcPr/>
                </a:tc>
                <a:tc>
                  <a:txBody>
                    <a:bodyPr/>
                    <a:lstStyle/>
                    <a:p>
                      <a:r>
                        <a:rPr lang="en-IN"/>
                        <a:t>Methodology/ Approach</a:t>
                      </a:r>
                      <a:endParaRPr lang="en-IN" dirty="0"/>
                    </a:p>
                  </a:txBody>
                  <a:tcPr/>
                </a:tc>
                <a:tc>
                  <a:txBody>
                    <a:bodyPr/>
                    <a:lstStyle/>
                    <a:p>
                      <a:r>
                        <a:rPr lang="en-IN" dirty="0"/>
                        <a:t>RESEARCH GAP</a:t>
                      </a:r>
                    </a:p>
                  </a:txBody>
                  <a:tcPr/>
                </a:tc>
                <a:extLst>
                  <a:ext uri="{0D108BD9-81ED-4DB2-BD59-A6C34878D82A}">
                    <a16:rowId xmlns:a16="http://schemas.microsoft.com/office/drawing/2014/main" val="4181128821"/>
                  </a:ext>
                </a:extLst>
              </a:tr>
              <a:tr h="563845">
                <a:tc>
                  <a:txBody>
                    <a:bodyPr/>
                    <a:lstStyle/>
                    <a:p>
                      <a:r>
                        <a:rPr lang="en-IN" sz="1200" dirty="0"/>
                        <a:t>Vaswani et al. (Transformer baseline)</a:t>
                      </a:r>
                    </a:p>
                  </a:txBody>
                  <a:tcPr/>
                </a:tc>
                <a:tc>
                  <a:txBody>
                    <a:bodyPr/>
                    <a:lstStyle/>
                    <a:p>
                      <a:r>
                        <a:rPr lang="en-IN" sz="1200" dirty="0"/>
                        <a:t>Attention Is All You Need</a:t>
                      </a:r>
                    </a:p>
                  </a:txBody>
                  <a:tcPr/>
                </a:tc>
                <a:tc>
                  <a:txBody>
                    <a:bodyPr/>
                    <a:lstStyle/>
                    <a:p>
                      <a:r>
                        <a:rPr lang="en-IN" sz="1200"/>
                        <a:t>Self-attention architecture</a:t>
                      </a:r>
                      <a:endParaRPr lang="en-IN" sz="1200" dirty="0"/>
                    </a:p>
                  </a:txBody>
                  <a:tcPr/>
                </a:tc>
                <a:tc>
                  <a:txBody>
                    <a:bodyPr/>
                    <a:lstStyle/>
                    <a:p>
                      <a:pPr algn="just"/>
                      <a:r>
                        <a:rPr lang="en-IN" sz="1200" dirty="0"/>
                        <a:t>MCTR adds a meta-cognitive control layer over the Transformer.</a:t>
                      </a:r>
                    </a:p>
                  </a:txBody>
                  <a:tcPr/>
                </a:tc>
                <a:extLst>
                  <a:ext uri="{0D108BD9-81ED-4DB2-BD59-A6C34878D82A}">
                    <a16:rowId xmlns:a16="http://schemas.microsoft.com/office/drawing/2014/main" val="2222811343"/>
                  </a:ext>
                </a:extLst>
              </a:tr>
              <a:tr h="724943">
                <a:tc>
                  <a:txBody>
                    <a:bodyPr/>
                    <a:lstStyle/>
                    <a:p>
                      <a:r>
                        <a:rPr lang="en-IN" sz="1100"/>
                        <a:t>Ouyang et al. (2022)</a:t>
                      </a:r>
                      <a:endParaRPr lang="en-IN" sz="1100" dirty="0"/>
                    </a:p>
                  </a:txBody>
                  <a:tcPr/>
                </a:tc>
                <a:tc>
                  <a:txBody>
                    <a:bodyPr/>
                    <a:lstStyle/>
                    <a:p>
                      <a:r>
                        <a:rPr lang="en-IN" sz="1100" dirty="0"/>
                        <a:t>Training Language Models to Follow Instructions with Human Feedback</a:t>
                      </a:r>
                    </a:p>
                  </a:txBody>
                  <a:tcPr/>
                </a:tc>
                <a:tc>
                  <a:txBody>
                    <a:bodyPr/>
                    <a:lstStyle/>
                    <a:p>
                      <a:r>
                        <a:rPr lang="en-IN" sz="1100" dirty="0"/>
                        <a:t>RLHF</a:t>
                      </a:r>
                    </a:p>
                  </a:txBody>
                  <a:tcPr/>
                </a:tc>
                <a:tc>
                  <a:txBody>
                    <a:bodyPr/>
                    <a:lstStyle/>
                    <a:p>
                      <a:pPr algn="just"/>
                      <a:r>
                        <a:rPr lang="en-IN" sz="1100" dirty="0"/>
                        <a:t>MCTR moves feedback from external training supervision toward internal computational regulation.</a:t>
                      </a:r>
                    </a:p>
                  </a:txBody>
                  <a:tcPr/>
                </a:tc>
                <a:extLst>
                  <a:ext uri="{0D108BD9-81ED-4DB2-BD59-A6C34878D82A}">
                    <a16:rowId xmlns:a16="http://schemas.microsoft.com/office/drawing/2014/main" val="4131749539"/>
                  </a:ext>
                </a:extLst>
              </a:tr>
              <a:tr h="724943">
                <a:tc>
                  <a:txBody>
                    <a:bodyPr/>
                    <a:lstStyle/>
                    <a:p>
                      <a:r>
                        <a:rPr lang="en-IN" sz="1100" dirty="0"/>
                        <a:t>Jiang et al. (2023)</a:t>
                      </a:r>
                    </a:p>
                  </a:txBody>
                  <a:tcPr/>
                </a:tc>
                <a:tc>
                  <a:txBody>
                    <a:bodyPr/>
                    <a:lstStyle/>
                    <a:p>
                      <a:r>
                        <a:rPr lang="en-IN" sz="1100" dirty="0"/>
                        <a:t>Mistral 7B</a:t>
                      </a:r>
                    </a:p>
                  </a:txBody>
                  <a:tcPr/>
                </a:tc>
                <a:tc>
                  <a:txBody>
                    <a:bodyPr/>
                    <a:lstStyle/>
                    <a:p>
                      <a:r>
                        <a:rPr lang="en-IN" sz="1100" dirty="0"/>
                        <a:t>Sliding-window attention</a:t>
                      </a:r>
                    </a:p>
                  </a:txBody>
                  <a:tcPr/>
                </a:tc>
                <a:tc>
                  <a:txBody>
                    <a:bodyPr/>
                    <a:lstStyle/>
                    <a:p>
                      <a:pPr algn="just"/>
                      <a:r>
                        <a:rPr lang="en-IN" sz="1100" dirty="0"/>
                        <a:t>MCTR makes information allocation state-dependent rather than only architecture-dependent.</a:t>
                      </a:r>
                    </a:p>
                  </a:txBody>
                  <a:tcPr/>
                </a:tc>
                <a:extLst>
                  <a:ext uri="{0D108BD9-81ED-4DB2-BD59-A6C34878D82A}">
                    <a16:rowId xmlns:a16="http://schemas.microsoft.com/office/drawing/2014/main" val="2475021079"/>
                  </a:ext>
                </a:extLst>
              </a:tr>
              <a:tr h="886042">
                <a:tc>
                  <a:txBody>
                    <a:bodyPr/>
                    <a:lstStyle/>
                    <a:p>
                      <a:r>
                        <a:rPr lang="en-IN" sz="1100" dirty="0"/>
                        <a:t>OpenAI (2023)</a:t>
                      </a:r>
                    </a:p>
                  </a:txBody>
                  <a:tcPr/>
                </a:tc>
                <a:tc>
                  <a:txBody>
                    <a:bodyPr/>
                    <a:lstStyle/>
                    <a:p>
                      <a:r>
                        <a:rPr lang="en-IN" sz="1100" dirty="0"/>
                        <a:t>GPT-4 Technical Report</a:t>
                      </a:r>
                    </a:p>
                  </a:txBody>
                  <a:tcPr/>
                </a:tc>
                <a:tc>
                  <a:txBody>
                    <a:bodyPr/>
                    <a:lstStyle/>
                    <a:p>
                      <a:r>
                        <a:rPr lang="en-IN" sz="1100" dirty="0"/>
                        <a:t>Large scale transformer</a:t>
                      </a:r>
                    </a:p>
                  </a:txBody>
                  <a:tcPr/>
                </a:tc>
                <a:tc>
                  <a:txBody>
                    <a:bodyPr/>
                    <a:lstStyle/>
                    <a:p>
                      <a:pPr algn="just"/>
                      <a:r>
                        <a:rPr lang="en-IN" sz="1100" dirty="0"/>
                        <a:t>MCTR proposes an explicit computational mechanism rather than relying on emergent reasoning capability.</a:t>
                      </a:r>
                    </a:p>
                  </a:txBody>
                  <a:tcPr/>
                </a:tc>
                <a:extLst>
                  <a:ext uri="{0D108BD9-81ED-4DB2-BD59-A6C34878D82A}">
                    <a16:rowId xmlns:a16="http://schemas.microsoft.com/office/drawing/2014/main" val="3007790116"/>
                  </a:ext>
                </a:extLst>
              </a:tr>
              <a:tr h="724943">
                <a:tc>
                  <a:txBody>
                    <a:bodyPr/>
                    <a:lstStyle/>
                    <a:p>
                      <a:r>
                        <a:rPr lang="en-IN" sz="1100" dirty="0"/>
                        <a:t>Yao et al. (2023)</a:t>
                      </a:r>
                    </a:p>
                  </a:txBody>
                  <a:tcPr/>
                </a:tc>
                <a:tc>
                  <a:txBody>
                    <a:bodyPr/>
                    <a:lstStyle/>
                    <a:p>
                      <a:r>
                        <a:rPr lang="en-IN" sz="1100" dirty="0"/>
                        <a:t>Tree of Thoughts</a:t>
                      </a:r>
                    </a:p>
                  </a:txBody>
                  <a:tcPr/>
                </a:tc>
                <a:tc>
                  <a:txBody>
                    <a:bodyPr/>
                    <a:lstStyle/>
                    <a:p>
                      <a:r>
                        <a:rPr lang="en-IN" sz="1100" dirty="0"/>
                        <a:t>Deliberate reasoning search</a:t>
                      </a:r>
                    </a:p>
                  </a:txBody>
                  <a:tcPr/>
                </a:tc>
                <a:tc>
                  <a:txBody>
                    <a:bodyPr/>
                    <a:lstStyle/>
                    <a:p>
                      <a:pPr algn="just"/>
                      <a:r>
                        <a:rPr lang="en-IN" sz="1100" dirty="0"/>
                        <a:t>MCTR introduces internal state-based regulation instead of primarily external search over reasoning paths.</a:t>
                      </a:r>
                    </a:p>
                  </a:txBody>
                  <a:tcPr/>
                </a:tc>
                <a:extLst>
                  <a:ext uri="{0D108BD9-81ED-4DB2-BD59-A6C34878D82A}">
                    <a16:rowId xmlns:a16="http://schemas.microsoft.com/office/drawing/2014/main" val="484167632"/>
                  </a:ext>
                </a:extLst>
              </a:tr>
            </a:tbl>
          </a:graphicData>
        </a:graphic>
      </p:graphicFrame>
    </p:spTree>
    <p:extLst>
      <p:ext uri="{BB962C8B-B14F-4D97-AF65-F5344CB8AC3E}">
        <p14:creationId xmlns:p14="http://schemas.microsoft.com/office/powerpoint/2010/main" val="3421671986"/>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1B74DB53-5880-17E2-B6FA-5028A48E8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14201-BC1D-05B0-485A-3352B6219AD9}"/>
              </a:ext>
            </a:extLst>
          </p:cNvPr>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ARCHITECTURE DIAGRAM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6D9CF67-9EC8-7126-2696-1FC4544992B6}"/>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99AFE446-0C81-59E2-4071-966C25D96F7B}"/>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7A1552C6-69B2-9E76-CFB1-AD8ED9099F5D}"/>
              </a:ext>
            </a:extLst>
          </p:cNvPr>
          <p:cNvSpPr>
            <a:spLocks noGrp="1"/>
          </p:cNvSpPr>
          <p:nvPr>
            <p:ph type="sldNum" sz="quarter" idx="12"/>
          </p:nvPr>
        </p:nvSpPr>
        <p:spPr/>
        <p:txBody>
          <a:bodyPr/>
          <a:lstStyle/>
          <a:p>
            <a:fld id="{5AB9ECBD-B4DD-40D5-8D24-9ECCDBB1583E}" type="slidenum">
              <a:rPr lang="en-IN" smtClean="0"/>
              <a:t>13</a:t>
            </a:fld>
            <a:endParaRPr lang="en-IN"/>
          </a:p>
        </p:txBody>
      </p:sp>
      <p:sp>
        <p:nvSpPr>
          <p:cNvPr id="7" name="Freeform 2">
            <a:extLst>
              <a:ext uri="{FF2B5EF4-FFF2-40B4-BE49-F238E27FC236}">
                <a16:creationId xmlns:a16="http://schemas.microsoft.com/office/drawing/2014/main" id="{6FD44C6C-7EE6-96CA-80DE-C4595DC173ED}"/>
              </a:ext>
            </a:extLst>
          </p:cNvPr>
          <p:cNvSpPr/>
          <p:nvPr/>
        </p:nvSpPr>
        <p:spPr>
          <a:xfrm>
            <a:off x="10858500"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pic>
        <p:nvPicPr>
          <p:cNvPr id="8" name="Picture 7">
            <a:extLst>
              <a:ext uri="{FF2B5EF4-FFF2-40B4-BE49-F238E27FC236}">
                <a16:creationId xmlns:a16="http://schemas.microsoft.com/office/drawing/2014/main" id="{32BE77CD-6211-EB42-8285-2AA701C1B9A9}"/>
              </a:ext>
            </a:extLst>
          </p:cNvPr>
          <p:cNvPicPr>
            <a:picLocks noChangeAspect="1"/>
          </p:cNvPicPr>
          <p:nvPr/>
        </p:nvPicPr>
        <p:blipFill>
          <a:blip r:embed="rId5">
            <a:extLst>
              <a:ext uri="{28A0092B-C50C-407E-A947-70E740481C1C}">
                <a14:useLocalDpi xmlns:a14="http://schemas.microsoft.com/office/drawing/2010/main" val="0"/>
              </a:ext>
            </a:extLst>
          </a:blip>
          <a:srcRect b="14008"/>
          <a:stretch>
            <a:fillRect/>
          </a:stretch>
        </p:blipFill>
        <p:spPr>
          <a:xfrm>
            <a:off x="2330115" y="1828701"/>
            <a:ext cx="7531769" cy="4317817"/>
          </a:xfrm>
          <a:prstGeom prst="rect">
            <a:avLst/>
          </a:prstGeom>
        </p:spPr>
      </p:pic>
    </p:spTree>
    <p:extLst>
      <p:ext uri="{BB962C8B-B14F-4D97-AF65-F5344CB8AC3E}">
        <p14:creationId xmlns:p14="http://schemas.microsoft.com/office/powerpoint/2010/main" val="311567956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64F1EBE3-2D95-2ADA-28F0-FF62FC5C1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F44A9-2364-FAC7-FA3B-B9E222111AAB}"/>
              </a:ext>
            </a:extLst>
          </p:cNvPr>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TECH STACK</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14706FB-A4D4-61BE-1A75-F44A50E05B1F}"/>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631AEF84-8607-8118-6406-7258250D3236}"/>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16CAF5B4-FDCC-06CE-9576-F01A882B589D}"/>
              </a:ext>
            </a:extLst>
          </p:cNvPr>
          <p:cNvSpPr>
            <a:spLocks noGrp="1"/>
          </p:cNvSpPr>
          <p:nvPr>
            <p:ph type="sldNum" sz="quarter" idx="12"/>
          </p:nvPr>
        </p:nvSpPr>
        <p:spPr/>
        <p:txBody>
          <a:bodyPr/>
          <a:lstStyle/>
          <a:p>
            <a:fld id="{5AB9ECBD-B4DD-40D5-8D24-9ECCDBB1583E}" type="slidenum">
              <a:rPr lang="en-IN" smtClean="0"/>
              <a:t>14</a:t>
            </a:fld>
            <a:endParaRPr lang="en-IN"/>
          </a:p>
        </p:txBody>
      </p:sp>
      <p:sp>
        <p:nvSpPr>
          <p:cNvPr id="7" name="Freeform 2">
            <a:extLst>
              <a:ext uri="{FF2B5EF4-FFF2-40B4-BE49-F238E27FC236}">
                <a16:creationId xmlns:a16="http://schemas.microsoft.com/office/drawing/2014/main" id="{415A581B-C1CF-94E3-26B2-DE8527217D43}"/>
              </a:ext>
            </a:extLst>
          </p:cNvPr>
          <p:cNvSpPr/>
          <p:nvPr/>
        </p:nvSpPr>
        <p:spPr>
          <a:xfrm>
            <a:off x="10858500"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sp>
        <p:nvSpPr>
          <p:cNvPr id="9" name="Rectangle 8">
            <a:extLst>
              <a:ext uri="{FF2B5EF4-FFF2-40B4-BE49-F238E27FC236}">
                <a16:creationId xmlns:a16="http://schemas.microsoft.com/office/drawing/2014/main" id="{330BB2FC-0D36-0CA9-5044-8DD8187F094A}"/>
              </a:ext>
            </a:extLst>
          </p:cNvPr>
          <p:cNvSpPr/>
          <p:nvPr/>
        </p:nvSpPr>
        <p:spPr>
          <a:xfrm>
            <a:off x="3317321" y="2257739"/>
            <a:ext cx="5557357" cy="523220"/>
          </a:xfrm>
          <a:prstGeom prst="rect">
            <a:avLst/>
          </a:prstGeom>
          <a:noFill/>
        </p:spPr>
        <p:txBody>
          <a:bodyPr wrap="square" lIns="91440" tIns="45720" rIns="91440" bIns="45720">
            <a:spAutoFit/>
          </a:bodyPr>
          <a:lstStyle/>
          <a:p>
            <a:pPr marL="285750" indent="-285750" algn="just">
              <a:buFont typeface="Arial" panose="020B0604020202020204" pitchFamily="34" charset="0"/>
              <a:buChar char="•"/>
            </a:pPr>
            <a:r>
              <a:rPr lang="en-US"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PYTHON : NUMPY, MATPLOTLIB, TORCH, HUGGING FACE</a:t>
            </a:r>
          </a:p>
          <a:p>
            <a:pPr marL="285750" indent="-285750" algn="just">
              <a:buFont typeface="Arial" panose="020B0604020202020204" pitchFamily="34" charset="0"/>
              <a:buChar char="•"/>
            </a:pPr>
            <a:r>
              <a:rPr lang="en-US" sz="14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DATASET (for evaluation): MMLU, ARC, GSM8K</a:t>
            </a:r>
            <a:endParaRPr lang="en-US" sz="1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173852"/>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D4F63A64-57B5-151E-C6FC-6A843649F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4BCCE-6988-E02B-7092-C5D36653D064}"/>
              </a:ext>
            </a:extLst>
          </p:cNvPr>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LIST OF MOUDULES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B51734A-7318-82D4-6DD3-30D2A666C739}"/>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021B5ED1-EF46-7EFC-62FA-3425122966F6}"/>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462002D3-9003-783E-31FF-71611BEF507D}"/>
              </a:ext>
            </a:extLst>
          </p:cNvPr>
          <p:cNvSpPr>
            <a:spLocks noGrp="1"/>
          </p:cNvSpPr>
          <p:nvPr>
            <p:ph type="sldNum" sz="quarter" idx="12"/>
          </p:nvPr>
        </p:nvSpPr>
        <p:spPr/>
        <p:txBody>
          <a:bodyPr/>
          <a:lstStyle/>
          <a:p>
            <a:fld id="{5AB9ECBD-B4DD-40D5-8D24-9ECCDBB1583E}" type="slidenum">
              <a:rPr lang="en-IN" smtClean="0"/>
              <a:t>15</a:t>
            </a:fld>
            <a:endParaRPr lang="en-IN"/>
          </a:p>
        </p:txBody>
      </p:sp>
      <p:sp>
        <p:nvSpPr>
          <p:cNvPr id="7" name="Freeform 2">
            <a:extLst>
              <a:ext uri="{FF2B5EF4-FFF2-40B4-BE49-F238E27FC236}">
                <a16:creationId xmlns:a16="http://schemas.microsoft.com/office/drawing/2014/main" id="{84B3E5DF-EC9F-3AD9-85A9-A99EEB525450}"/>
              </a:ext>
            </a:extLst>
          </p:cNvPr>
          <p:cNvSpPr/>
          <p:nvPr/>
        </p:nvSpPr>
        <p:spPr>
          <a:xfrm>
            <a:off x="10858500"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graphicFrame>
        <p:nvGraphicFramePr>
          <p:cNvPr id="10" name="Table 9">
            <a:extLst>
              <a:ext uri="{FF2B5EF4-FFF2-40B4-BE49-F238E27FC236}">
                <a16:creationId xmlns:a16="http://schemas.microsoft.com/office/drawing/2014/main" id="{762AF309-4E53-98D9-1F15-A76762E5F531}"/>
              </a:ext>
            </a:extLst>
          </p:cNvPr>
          <p:cNvGraphicFramePr>
            <a:graphicFrameLocks noGrp="1"/>
          </p:cNvGraphicFramePr>
          <p:nvPr>
            <p:extLst>
              <p:ext uri="{D42A27DB-BD31-4B8C-83A1-F6EECF244321}">
                <p14:modId xmlns:p14="http://schemas.microsoft.com/office/powerpoint/2010/main" val="2556893002"/>
              </p:ext>
            </p:extLst>
          </p:nvPr>
        </p:nvGraphicFramePr>
        <p:xfrm>
          <a:off x="1860886" y="2100079"/>
          <a:ext cx="7788636" cy="2225040"/>
        </p:xfrm>
        <a:graphic>
          <a:graphicData uri="http://schemas.openxmlformats.org/drawingml/2006/table">
            <a:tbl>
              <a:tblPr firstRow="1" bandRow="1">
                <a:tableStyleId>{17292A2E-F333-43FB-9621-5CBBE7FDCDCB}</a:tableStyleId>
              </a:tblPr>
              <a:tblGrid>
                <a:gridCol w="3707257">
                  <a:extLst>
                    <a:ext uri="{9D8B030D-6E8A-4147-A177-3AD203B41FA5}">
                      <a16:colId xmlns:a16="http://schemas.microsoft.com/office/drawing/2014/main" val="2506261588"/>
                    </a:ext>
                  </a:extLst>
                </a:gridCol>
                <a:gridCol w="4081379">
                  <a:extLst>
                    <a:ext uri="{9D8B030D-6E8A-4147-A177-3AD203B41FA5}">
                      <a16:colId xmlns:a16="http://schemas.microsoft.com/office/drawing/2014/main" val="4025604087"/>
                    </a:ext>
                  </a:extLst>
                </a:gridCol>
              </a:tblGrid>
              <a:tr h="370840">
                <a:tc>
                  <a:txBody>
                    <a:bodyPr/>
                    <a:lstStyle/>
                    <a:p>
                      <a:pPr algn="ctr"/>
                      <a:r>
                        <a:rPr lang="en-IN" dirty="0"/>
                        <a:t>PHASE 1 </a:t>
                      </a:r>
                    </a:p>
                  </a:txBody>
                  <a:tcPr/>
                </a:tc>
                <a:tc>
                  <a:txBody>
                    <a:bodyPr/>
                    <a:lstStyle/>
                    <a:p>
                      <a:pPr algn="ctr"/>
                      <a:r>
                        <a:rPr lang="en-IN" dirty="0"/>
                        <a:t>PHASE 2</a:t>
                      </a:r>
                    </a:p>
                  </a:txBody>
                  <a:tcPr/>
                </a:tc>
                <a:extLst>
                  <a:ext uri="{0D108BD9-81ED-4DB2-BD59-A6C34878D82A}">
                    <a16:rowId xmlns:a16="http://schemas.microsoft.com/office/drawing/2014/main" val="1842463056"/>
                  </a:ext>
                </a:extLst>
              </a:tr>
              <a:tr h="370840">
                <a:tc>
                  <a:txBody>
                    <a:bodyPr/>
                    <a:lstStyle/>
                    <a:p>
                      <a:pPr algn="ctr"/>
                      <a:r>
                        <a:rPr lang="en-IN" sz="1400" dirty="0"/>
                        <a:t>BASE STATISTICS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ADAPTIVE ENTROPY TARGET</a:t>
                      </a:r>
                    </a:p>
                  </a:txBody>
                  <a:tcPr/>
                </a:tc>
                <a:extLst>
                  <a:ext uri="{0D108BD9-81ED-4DB2-BD59-A6C34878D82A}">
                    <a16:rowId xmlns:a16="http://schemas.microsoft.com/office/drawing/2014/main" val="178110016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INFORMATION-THEORETIC STATE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TEMPERATURE CONTROLLER</a:t>
                      </a:r>
                    </a:p>
                  </a:txBody>
                  <a:tcPr/>
                </a:tc>
                <a:extLst>
                  <a:ext uri="{0D108BD9-81ED-4DB2-BD59-A6C34878D82A}">
                    <a16:rowId xmlns:a16="http://schemas.microsoft.com/office/drawing/2014/main" val="306269946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INFERENTIAL STATE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META-COGNITIVE ATTENTION</a:t>
                      </a:r>
                    </a:p>
                  </a:txBody>
                  <a:tcPr/>
                </a:tc>
                <a:extLst>
                  <a:ext uri="{0D108BD9-81ED-4DB2-BD59-A6C34878D82A}">
                    <a16:rowId xmlns:a16="http://schemas.microsoft.com/office/drawing/2014/main" val="41632113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META-COGNITIVE EVALUATOR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REGULATED TRANSFORMER</a:t>
                      </a:r>
                    </a:p>
                  </a:txBody>
                  <a:tcPr/>
                </a:tc>
                <a:extLst>
                  <a:ext uri="{0D108BD9-81ED-4DB2-BD59-A6C34878D82A}">
                    <a16:rowId xmlns:a16="http://schemas.microsoft.com/office/drawing/2014/main" val="245069080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META CONTROLLER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0" dirty="0"/>
                        <a:t>STATE TRANSITION</a:t>
                      </a:r>
                    </a:p>
                  </a:txBody>
                  <a:tcPr/>
                </a:tc>
                <a:extLst>
                  <a:ext uri="{0D108BD9-81ED-4DB2-BD59-A6C34878D82A}">
                    <a16:rowId xmlns:a16="http://schemas.microsoft.com/office/drawing/2014/main" val="357899254"/>
                  </a:ext>
                </a:extLst>
              </a:tr>
            </a:tbl>
          </a:graphicData>
        </a:graphic>
      </p:graphicFrame>
    </p:spTree>
    <p:extLst>
      <p:ext uri="{BB962C8B-B14F-4D97-AF65-F5344CB8AC3E}">
        <p14:creationId xmlns:p14="http://schemas.microsoft.com/office/powerpoint/2010/main" val="3485476220"/>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5989DCB2-8993-6B51-4984-960A67FC8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92B69-594E-3B22-1F5C-68251CE77528}"/>
              </a:ext>
            </a:extLst>
          </p:cNvPr>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STATISTICAL INFERENCE</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88C5CA6-747D-7A4A-5F37-B475B3E5EFAC}"/>
              </a:ext>
            </a:extLst>
          </p:cNvPr>
          <p:cNvSpPr>
            <a:spLocks noGrp="1"/>
          </p:cNvSpPr>
          <p:nvPr>
            <p:ph type="dt" sz="half" idx="10"/>
          </p:nvPr>
        </p:nvSpPr>
        <p:spPr/>
        <p:txBody>
          <a:bodyPr/>
          <a:lstStyle/>
          <a:p>
            <a:r>
              <a:rPr lang="en-US" dirty="0"/>
              <a:t>First Review</a:t>
            </a:r>
            <a:endParaRPr lang="en-IN" dirty="0"/>
          </a:p>
        </p:txBody>
      </p:sp>
      <p:sp>
        <p:nvSpPr>
          <p:cNvPr id="5" name="Footer Placeholder 4">
            <a:extLst>
              <a:ext uri="{FF2B5EF4-FFF2-40B4-BE49-F238E27FC236}">
                <a16:creationId xmlns:a16="http://schemas.microsoft.com/office/drawing/2014/main" id="{0875080B-04C0-E1E3-FC4C-3F6DA7939804}"/>
              </a:ext>
            </a:extLst>
          </p:cNvPr>
          <p:cNvSpPr>
            <a:spLocks noGrp="1"/>
          </p:cNvSpPr>
          <p:nvPr>
            <p:ph type="ftr" sz="quarter" idx="11"/>
          </p:nvPr>
        </p:nvSpPr>
        <p:spPr/>
        <p:txBody>
          <a:bodyPr/>
          <a:lstStyle/>
          <a:p>
            <a:r>
              <a:rPr lang="en-US" dirty="0"/>
              <a:t>Department of Ai &amp; ML</a:t>
            </a:r>
            <a:endParaRPr lang="en-IN" dirty="0"/>
          </a:p>
        </p:txBody>
      </p:sp>
      <p:sp>
        <p:nvSpPr>
          <p:cNvPr id="6" name="Slide Number Placeholder 5">
            <a:extLst>
              <a:ext uri="{FF2B5EF4-FFF2-40B4-BE49-F238E27FC236}">
                <a16:creationId xmlns:a16="http://schemas.microsoft.com/office/drawing/2014/main" id="{C905F23F-D5A9-B048-8CCF-1DCE6FAADE72}"/>
              </a:ext>
            </a:extLst>
          </p:cNvPr>
          <p:cNvSpPr>
            <a:spLocks noGrp="1"/>
          </p:cNvSpPr>
          <p:nvPr>
            <p:ph type="sldNum" sz="quarter" idx="12"/>
          </p:nvPr>
        </p:nvSpPr>
        <p:spPr/>
        <p:txBody>
          <a:bodyPr/>
          <a:lstStyle/>
          <a:p>
            <a:fld id="{5AB9ECBD-B4DD-40D5-8D24-9ECCDBB1583E}" type="slidenum">
              <a:rPr lang="en-IN" smtClean="0"/>
              <a:t>16</a:t>
            </a:fld>
            <a:endParaRPr lang="en-IN"/>
          </a:p>
        </p:txBody>
      </p:sp>
      <p:sp>
        <p:nvSpPr>
          <p:cNvPr id="7" name="Freeform 2">
            <a:extLst>
              <a:ext uri="{FF2B5EF4-FFF2-40B4-BE49-F238E27FC236}">
                <a16:creationId xmlns:a16="http://schemas.microsoft.com/office/drawing/2014/main" id="{278AA137-1A38-E506-CED5-F1CA73C15E8C}"/>
              </a:ext>
            </a:extLst>
          </p:cNvPr>
          <p:cNvSpPr/>
          <p:nvPr/>
        </p:nvSpPr>
        <p:spPr>
          <a:xfrm>
            <a:off x="10858500" y="266834"/>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4"/>
            <a:stretch>
              <a:fillRect/>
            </a:stretch>
          </a:blipFill>
        </p:spPr>
      </p:sp>
      <p:pic>
        <p:nvPicPr>
          <p:cNvPr id="19" name="Picture 18">
            <a:extLst>
              <a:ext uri="{FF2B5EF4-FFF2-40B4-BE49-F238E27FC236}">
                <a16:creationId xmlns:a16="http://schemas.microsoft.com/office/drawing/2014/main" id="{3E581DD0-0C4D-6433-847C-A5915A8174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4165" y="2497723"/>
            <a:ext cx="6564432" cy="2735180"/>
          </a:xfrm>
          <a:prstGeom prst="rect">
            <a:avLst/>
          </a:prstGeom>
        </p:spPr>
      </p:pic>
      <p:pic>
        <p:nvPicPr>
          <p:cNvPr id="21" name="Picture 20">
            <a:extLst>
              <a:ext uri="{FF2B5EF4-FFF2-40B4-BE49-F238E27FC236}">
                <a16:creationId xmlns:a16="http://schemas.microsoft.com/office/drawing/2014/main" id="{6945436A-6E78-5196-4583-6CDCE492CC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2800" y="2387747"/>
            <a:ext cx="4083656" cy="3062741"/>
          </a:xfrm>
          <a:prstGeom prst="rect">
            <a:avLst/>
          </a:prstGeom>
        </p:spPr>
      </p:pic>
    </p:spTree>
    <p:extLst>
      <p:ext uri="{BB962C8B-B14F-4D97-AF65-F5344CB8AC3E}">
        <p14:creationId xmlns:p14="http://schemas.microsoft.com/office/powerpoint/2010/main" val="3465811216"/>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C349C-5BE6-7AA1-4EE3-C4AA5A3BB314}"/>
              </a:ext>
            </a:extLst>
          </p:cNvPr>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a:extLst>
              <a:ext uri="{FF2B5EF4-FFF2-40B4-BE49-F238E27FC236}">
                <a16:creationId xmlns:a16="http://schemas.microsoft.com/office/drawing/2014/main" id="{778CC27A-14F7-85DD-1D33-35BB88464355}"/>
              </a:ext>
            </a:extLst>
          </p:cNvPr>
          <p:cNvSpPr>
            <a:spLocks noGrp="1"/>
          </p:cNvSpPr>
          <p:nvPr>
            <p:ph type="ftr" sz="quarter" idx="11"/>
          </p:nvPr>
        </p:nvSpPr>
        <p:spPr/>
        <p:txBody>
          <a:bodyPr/>
          <a:lstStyle/>
          <a:p>
            <a:pPr>
              <a:defRPr/>
            </a:pPr>
            <a:r>
              <a:rPr lang="en-US" dirty="0"/>
              <a:t>Department of AI &amp; ML</a:t>
            </a:r>
          </a:p>
        </p:txBody>
      </p:sp>
      <p:sp>
        <p:nvSpPr>
          <p:cNvPr id="4" name="Slide Number Placeholder 3">
            <a:extLst>
              <a:ext uri="{FF2B5EF4-FFF2-40B4-BE49-F238E27FC236}">
                <a16:creationId xmlns:a16="http://schemas.microsoft.com/office/drawing/2014/main" id="{CF44F5F3-B604-7034-3991-F0917DEC107F}"/>
              </a:ext>
            </a:extLst>
          </p:cNvPr>
          <p:cNvSpPr>
            <a:spLocks noGrp="1"/>
          </p:cNvSpPr>
          <p:nvPr>
            <p:ph type="sldNum" sz="quarter" idx="12"/>
          </p:nvPr>
        </p:nvSpPr>
        <p:spPr/>
        <p:txBody>
          <a:bodyPr/>
          <a:lstStyle/>
          <a:p>
            <a:pPr>
              <a:defRPr/>
            </a:pPr>
            <a:fld id="{F583B680-F650-469F-A231-392F163461F6}" type="slidenum">
              <a:rPr lang="en-US" altLang="en-US" smtClean="0"/>
              <a:pPr>
                <a:defRPr/>
              </a:pPr>
              <a:t>17</a:t>
            </a:fld>
            <a:endParaRPr lang="en-US" altLang="en-US" dirty="0"/>
          </a:p>
        </p:txBody>
      </p:sp>
      <p:sp>
        <p:nvSpPr>
          <p:cNvPr id="5" name="Date Placeholder 4">
            <a:extLst>
              <a:ext uri="{FF2B5EF4-FFF2-40B4-BE49-F238E27FC236}">
                <a16:creationId xmlns:a16="http://schemas.microsoft.com/office/drawing/2014/main" id="{09920C7D-BD2C-F059-5056-8B99F4B27643}"/>
              </a:ext>
            </a:extLst>
          </p:cNvPr>
          <p:cNvSpPr>
            <a:spLocks noGrp="1"/>
          </p:cNvSpPr>
          <p:nvPr>
            <p:ph type="dt" sz="half" idx="10"/>
          </p:nvPr>
        </p:nvSpPr>
        <p:spPr/>
        <p:txBody>
          <a:bodyPr/>
          <a:lstStyle/>
          <a:p>
            <a:pPr>
              <a:defRPr/>
            </a:pPr>
            <a:r>
              <a:rPr lang="en-US" dirty="0"/>
              <a:t>First Review</a:t>
            </a:r>
          </a:p>
        </p:txBody>
      </p:sp>
      <p:sp>
        <p:nvSpPr>
          <p:cNvPr id="6" name="Freeform 2">
            <a:extLst>
              <a:ext uri="{FF2B5EF4-FFF2-40B4-BE49-F238E27FC236}">
                <a16:creationId xmlns:a16="http://schemas.microsoft.com/office/drawing/2014/main" id="{74100185-8BF5-98C3-C475-2DE8C2F8F9C0}"/>
              </a:ext>
            </a:extLst>
          </p:cNvPr>
          <p:cNvSpPr/>
          <p:nvPr/>
        </p:nvSpPr>
        <p:spPr>
          <a:xfrm>
            <a:off x="10962973" y="164217"/>
            <a:ext cx="832453" cy="1142731"/>
          </a:xfrm>
          <a:custGeom>
            <a:avLst/>
            <a:gdLst/>
            <a:ahLst/>
            <a:cxnLst/>
            <a:rect l="l" t="t" r="r" b="b"/>
            <a:pathLst>
              <a:path w="832453" h="1142731">
                <a:moveTo>
                  <a:pt x="0" y="0"/>
                </a:moveTo>
                <a:lnTo>
                  <a:pt x="832453" y="0"/>
                </a:lnTo>
                <a:lnTo>
                  <a:pt x="832453" y="1142731"/>
                </a:lnTo>
                <a:lnTo>
                  <a:pt x="0" y="1142731"/>
                </a:lnTo>
                <a:lnTo>
                  <a:pt x="0" y="0"/>
                </a:lnTo>
                <a:close/>
              </a:path>
            </a:pathLst>
          </a:custGeom>
          <a:blipFill>
            <a:blip r:embed="rId2"/>
            <a:stretch>
              <a:fillRect/>
            </a:stretch>
          </a:blipFill>
        </p:spPr>
      </p:sp>
    </p:spTree>
    <p:extLst>
      <p:ext uri="{BB962C8B-B14F-4D97-AF65-F5344CB8AC3E}">
        <p14:creationId xmlns:p14="http://schemas.microsoft.com/office/powerpoint/2010/main" val="2273965067"/>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0.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emplate/>
  <TotalTime>4087</TotalTime>
  <Words>1623</Words>
  <Application>Microsoft Office PowerPoint</Application>
  <PresentationFormat>Widescreen</PresentationFormat>
  <Paragraphs>241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Times New Roman</vt:lpstr>
      <vt:lpstr>Verdana</vt:lpstr>
      <vt:lpstr>Wingdings</vt:lpstr>
      <vt:lpstr>Profile</vt:lpstr>
      <vt:lpstr>PowerPoint Presentation</vt:lpstr>
      <vt:lpstr>INTRODUCTION</vt:lpstr>
      <vt:lpstr>IMPORTANCE OF THE TOPIC</vt:lpstr>
      <vt:lpstr>PROJECT OVERVIEW</vt:lpstr>
      <vt:lpstr>EXISTING SYSTEM</vt:lpstr>
      <vt:lpstr>PROBLEM STATEMENT </vt:lpstr>
      <vt:lpstr>OBJECTIVES AND SCOPE</vt:lpstr>
      <vt:lpstr>LITERATURE SURVEY </vt:lpstr>
      <vt:lpstr>LITERATURE SURVEY </vt:lpstr>
      <vt:lpstr>PowerPoint Presentation</vt:lpstr>
      <vt:lpstr>SUMMARY OF LITERATURE SURVEY</vt:lpstr>
      <vt:lpstr>RESEARCH GAP</vt:lpstr>
      <vt:lpstr>ARCHITECTURE DIAGRAM </vt:lpstr>
      <vt:lpstr>TECH STACK</vt:lpstr>
      <vt:lpstr>LIST OF MOUDULES</vt:lpstr>
      <vt:lpstr>STATISTICAL INFERENCE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Surweesh SP</cp:lastModifiedBy>
  <cp:revision>18</cp:revision>
  <dcterms:created xsi:type="dcterms:W3CDTF">2023-08-03T04:32:32Z</dcterms:created>
  <dcterms:modified xsi:type="dcterms:W3CDTF">2026-09-02T15:43:29Z</dcterms:modified>
</cp:coreProperties>
</file>